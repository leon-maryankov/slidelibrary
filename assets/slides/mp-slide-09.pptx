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af-ZA" dirty="0">
                <a:solidFill>
                  <a:srgbClr val="FFD9BE"/>
                </a:solidFill>
              </a:rPr>
              <a:t>ROI,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ROI, %</c:v>
                </c:pt>
              </c:strCache>
            </c:strRef>
          </c:tx>
          <c:spPr>
            <a:solidFill>
              <a:srgbClr val="EF9C82"/>
            </a:solidFill>
            <a:ln w="25400">
              <a:solidFill>
                <a:srgbClr val="EF9C82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Email рассылка</c:v>
                </c:pt>
                <c:pt idx="1">
                  <c:v>SEO</c:v>
                </c:pt>
                <c:pt idx="2">
                  <c:v>Контекст brand</c:v>
                </c:pt>
                <c:pt idx="3">
                  <c:v>Контекст general</c:v>
                </c:pt>
                <c:pt idx="4">
                  <c:v>SMM Instagram</c:v>
                </c:pt>
                <c:pt idx="5">
                  <c:v>Офлайн ивент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1240</c:v>
                </c:pt>
                <c:pt idx="1">
                  <c:v>980</c:v>
                </c:pt>
                <c:pt idx="2">
                  <c:v>810</c:v>
                </c:pt>
                <c:pt idx="3">
                  <c:v>650</c:v>
                </c:pt>
                <c:pt idx="4">
                  <c:v>420</c:v>
                </c:pt>
                <c:pt idx="5">
                  <c:v>280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EF9C8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38C-4ED4-9EDD-E9D1EF4AE1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>
              <a:solidFill>
                <a:srgbClr val="2A3C3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49B2A-C70C-4137-AA22-E2A62E0C70B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1AF4E-7A3A-40AC-92A6-D55FD00D6F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72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6133A-34E2-9011-750A-AA935890B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837356-E5B2-DCB7-5C0A-C0D932FAB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170BE7-402F-B18F-2DE3-9A6261DA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BB5D74-C962-AA12-0B61-35F6C9A5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A0E8B3-6B48-A82D-8B33-3DAA031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67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5698A-CD8B-99D4-DBEA-7439A148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A73C5B-307D-93C6-9F28-9E46D1C36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CFA13D-1B81-AD16-9071-F465B6D2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7168ED-F7F8-C661-A5EA-9E2763C6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72EB05-57B4-5E23-2583-70BA35E0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87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C0E8F-E5DE-2A51-7731-E4CB73F6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2A701B-8CA8-B97C-FFA4-4FBFB7333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39E4E6-04AA-762B-1FBA-923FE083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FB47E9-EE4C-9882-E0C0-9ED11AD9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B718D2-3FE9-D543-46F8-1CCEDF03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85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12CB1-E1D5-5A6B-CDBF-EED677CB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F5E668-6D70-D9D9-018F-4D41FBDA4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26945D-C0CD-5E5B-B103-29EA4D36E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5DDC11-F818-40F2-6775-576D1AF5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DDE202-E427-A901-14F0-D4BFC1E2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FB4B60-4889-86CB-FC5C-4BD992B4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473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76B76-2F7B-C6C5-D87F-205C24F7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BF67A1-EDC5-CE02-A5E8-4C940E815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F14260-3FBE-6A49-969E-F7D1C2B28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FAF9C-2285-BD50-39C8-9195C3556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50782F-4E28-47E0-2E6C-49C8762AA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6E8370-1D99-C82B-313A-C067C11F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A02AB9-A5C5-1A71-41BD-41B18FEE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2FA8D2-ACC9-E293-F513-9DC6A4B5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30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777EF-1407-EB4E-7AAC-CF0F386E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E165D4-03B1-DA16-F511-C065A33E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5504AE-71B8-1E3D-98DD-26AB4959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4A81E9-8AB6-7184-1FE9-65C0E8EE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20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D5C242-0C64-6AC1-2D84-AE1C76F6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D881382-B607-6A57-D1BF-84AB55C3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70E3A-8E83-D7A1-F092-5D1CCA8B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91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90F02-3916-B2D3-139C-8F59D5BE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F712A6-8C6B-6B30-714D-D904153E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8A20E0-5A9F-0F71-6722-202644B9F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91E50-31D5-D016-AEB6-5F74C761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AB8315-FB36-3BDA-DCCB-D534ADD3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B4B1AA-5EB8-A9AD-8744-7FEF7FF2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21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E9B53-C0F9-48FF-0C86-7CCB355E0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AE270F-4E0C-9F57-8C2B-84273BB8E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13F7A8-04B5-FC86-DB2C-25D6C7921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2E33BD-0F62-3548-FEA6-4CB56699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D33935-B72C-39F3-D91C-F3B0C406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1C04F9-9446-1891-1A99-58C867A0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21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2D4B6-0CD1-0B98-CB95-3E0757EE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C81F11-8D1E-D4B4-0896-AC38BF58C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B2A690-6CE7-68F8-12EE-8A58430B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52C3B0-67E9-2CC2-30B3-C3039675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0E7C47-9806-E93C-76E8-D933D07B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86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37FDDCC-9E50-9906-3CAA-855B08085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6C238C-9828-F618-3136-D01A58F11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D2DDD1-78E5-9265-F8F2-BD59A041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7ADD26-70B0-7192-50F9-845857A5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2BA4AE-7C4C-EEDB-CFF8-E73E3C46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996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4653A-8D50-954F-FB24-AB3A034E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E3CCAA-0779-6E91-57DC-0F872071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DDB9C2-0E6B-B54D-5C00-1DAA59557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AEC1-1581-4BD5-8156-7388BF5A4843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940D85-F899-A808-6A9A-D5613311D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0D8687-4DD3-850F-7EF8-80B6CA39A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AD217-4D75-4B49-8ACA-860F23CB80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04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4895"/>
            <a:ext cx="545312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Топ кампаний по ROI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57053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% возврата на инвестиции · ТОП-6 кампаний · 2024 год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345476" y="2313484"/>
            <a:ext cx="332989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Лидеры эффективности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45476" y="2806204"/>
            <a:ext cx="5154484" cy="2094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Email-кампании доминируют в топе: реактивация спящей базы даёт </a:t>
            </a: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1 240% ROI</a:t>
            </a: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при минимальных затратах.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SEO-кампании обеспечивают стабильный долгосрочный результат без постоянных вложений в трафик.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345476" y="5125145"/>
            <a:ext cx="5154484" cy="777776"/>
          </a:xfrm>
          <a:prstGeom prst="roundRect">
            <a:avLst>
              <a:gd name="adj" fmla="val 3847"/>
            </a:avLst>
          </a:prstGeom>
          <a:solidFill>
            <a:srgbClr val="71260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900" y="5415756"/>
            <a:ext cx="249330" cy="1994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3656" y="5354439"/>
            <a:ext cx="49164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Средний ROI по топ-6 кампаниям: </a:t>
            </a:r>
            <a:r>
              <a:rPr lang="en-US" sz="15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810%</a:t>
            </a:r>
            <a:endParaRPr lang="en-US" sz="15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8086" y="2338388"/>
          <a:ext cx="5154484" cy="3710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83269A-690C-F62B-405B-1308CE545FCE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Широкоэкранный</PresentationFormat>
  <Paragraphs>8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2026-06-28T15:14:51Z</dcterms:created>
  <dcterms:modified xsi:type="dcterms:W3CDTF">2026-06-28T15:15:07Z</dcterms:modified>
</cp:coreProperties>
</file>