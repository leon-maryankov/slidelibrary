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Бюджет, млн ₽</c:v>
                </c:pt>
              </c:strCache>
            </c:strRef>
          </c:tx>
          <c:spPr>
            <a:solidFill>
              <a:srgbClr val="5040B0"/>
            </a:solidFill>
            <a:ln w="25400">
              <a:solidFill>
                <a:srgbClr val="5040B0"/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Выручка</c:v>
                </c:pt>
                <c:pt idx="1">
                  <c:v>ФОТ</c:v>
                </c:pt>
                <c:pt idx="2">
                  <c:v>Маркетинг</c:v>
                </c:pt>
                <c:pt idx="3">
                  <c:v>Операционные</c:v>
                </c:pt>
                <c:pt idx="4">
                  <c:v>ИТ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2300</c:v>
                </c:pt>
                <c:pt idx="1">
                  <c:v>640</c:v>
                </c:pt>
                <c:pt idx="2">
                  <c:v>510</c:v>
                </c:pt>
                <c:pt idx="3">
                  <c:v>310</c:v>
                </c:pt>
                <c:pt idx="4">
                  <c:v>200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>
                    <a:solidFill>
                      <a:srgbClr val="5040B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E79-4EBC-8245-FD39B42819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Факт, млн ₽</c:v>
                </c:pt>
              </c:strCache>
            </c:strRef>
          </c:tx>
          <c:spPr>
            <a:solidFill>
              <a:srgbClr val="8061FF"/>
            </a:solidFill>
            <a:ln w="25400">
              <a:solidFill>
                <a:srgbClr val="8061FF"/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Выручка</c:v>
                </c:pt>
                <c:pt idx="1">
                  <c:v>ФОТ</c:v>
                </c:pt>
                <c:pt idx="2">
                  <c:v>Маркетинг</c:v>
                </c:pt>
                <c:pt idx="3">
                  <c:v>Операционные</c:v>
                </c:pt>
                <c:pt idx="4">
                  <c:v>ИТ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2400</c:v>
                </c:pt>
                <c:pt idx="1">
                  <c:v>670</c:v>
                </c:pt>
                <c:pt idx="2">
                  <c:v>510</c:v>
                </c:pt>
                <c:pt idx="3">
                  <c:v>290</c:v>
                </c:pt>
                <c:pt idx="4">
                  <c:v>200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>
                    <a:solidFill>
                      <a:srgbClr val="8061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1E79-4EBC-8245-FD39B42819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D9E1FF"/>
                </a:solidFill>
                <a:latin typeface="Arial"/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1A106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D9E1FF"/>
                </a:solidFill>
                <a:latin typeface="Arial"/>
              </a:defRPr>
            </a:pPr>
            <a:endParaRPr lang="ru-RU"/>
          </a:p>
        </c:txPr>
        <c:crossAx val="-206802733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spPr>
        <a:noFill/>
        <a:ln>
          <a:noFill/>
        </a:ln>
      </c:spPr>
      <c:txPr>
        <a:bodyPr/>
        <a:lstStyle/>
        <a:p>
          <a:pPr>
            <a:defRPr sz="900" b="0">
              <a:solidFill>
                <a:srgbClr val="D9E1FF"/>
              </a:solidFill>
              <a:latin typeface="Arial"/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E6DB26-FB22-4BBE-9CD7-AE462A5E664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2252A-35F0-4009-ADB1-96D67A42D9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75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694F20-12AA-D751-42C1-7263C203A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93220B7-1167-1AF3-145B-BE3E85CD1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BC8573-6C7A-25CA-E01B-D570B7E82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7FB2C-54DE-4065-A3BB-DC6DCE9C493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EC6AEE-E5A3-8042-5039-720937693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1A46F2-4B81-5FCC-554A-DCEAF346E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5B75-0F5D-430B-903E-C3A65D7EA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322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44728D-2A16-39FE-21E9-3C4888A34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53AA31-22C0-AB7A-3F44-47FF89A50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073311-6669-D95D-F639-0A07FCA8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7FB2C-54DE-4065-A3BB-DC6DCE9C493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A0365D-9AC7-A0FB-ED71-D6CC4A62E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C4CF18-2B86-9CC1-D27C-72B9887E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5B75-0F5D-430B-903E-C3A65D7EA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97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50A92-BBFB-BF0F-C4A6-9B9CC9F6D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C0A582-BCDF-037E-DA4E-1C72089E5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B215DD-9BF5-8927-00FF-2109F611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7FB2C-54DE-4065-A3BB-DC6DCE9C493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22E8B8-B173-AFE2-8B1A-1FA8A6EA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0E1FB5-F158-C4EC-8D53-49FE7C7D3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5B75-0F5D-430B-903E-C3A65D7EA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43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09822-2DD4-4603-8A2E-6F556C2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51C849-C897-B7FD-E6F8-B51424720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AB1CFD6-D28E-3A33-CF23-D96B93064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AF747C-8E09-060A-6B8C-80061B48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7FB2C-54DE-4065-A3BB-DC6DCE9C493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FAEB7-D471-04DD-1FF9-6F551920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127F0F-EC86-DD90-CC81-8FE00372E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5B75-0F5D-430B-903E-C3A65D7EA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129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E70E44-5D34-CB25-01FF-E6008F0F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EDB0C6-AC1A-10AC-DBED-09DA44BF0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57B874-E9C5-D93C-1E98-590BD96F9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F32E26E-9E7E-2CB6-E97B-71AFBE964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534A83-B069-DEAF-5963-F12E35C8F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562965D-D276-7D57-E0A1-E0AC3919C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7FB2C-54DE-4065-A3BB-DC6DCE9C493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DA29BD2-B10A-2957-E56C-8386A8A17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BE586F5-DDDB-9070-BA0F-04E0BA78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5B75-0F5D-430B-903E-C3A65D7EA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88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ACE5F7-82C5-105E-0B86-692C42110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2E97940-2DAD-2DC2-988F-FB77BE53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7FB2C-54DE-4065-A3BB-DC6DCE9C493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46E202B-60F3-99A1-5096-CD283567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DE680B8-DF56-EB57-209C-C253BCAD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5B75-0F5D-430B-903E-C3A65D7EA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5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22FCD49-52A6-A254-8E3C-FE518BFA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7FB2C-54DE-4065-A3BB-DC6DCE9C493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46384CC-4808-16A8-4A8E-0D51C5B67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0B25FE-FC39-27A3-F6F0-99328A557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5B75-0F5D-430B-903E-C3A65D7EA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612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6C5DBB-1F31-905F-A2C3-59AC474B5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5BEDCE-9302-8597-9A78-0747E81A7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0C587BB-E64F-FFBB-D401-2013425BCA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91626C-288F-D869-082F-2913CDF51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7FB2C-54DE-4065-A3BB-DC6DCE9C493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E547D0-B2D2-4A9D-A80A-EEE2DA51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AACCE4-7DB7-9CD0-8F03-F3A97750D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5B75-0F5D-430B-903E-C3A65D7EA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790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3B8D43-9227-D6AE-CFC3-C2F7BF2EE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EDE048B-8D77-AAE6-0523-CDF4E38BA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AB755F-DADD-F2A6-FF52-84E69AF19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C7D8C1-A63B-085E-42D1-BA85A5464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7FB2C-54DE-4065-A3BB-DC6DCE9C493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79A6B9C-D708-8F2E-55EA-6E63516EA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23AFBF-CF0B-8C5E-76CB-A29888D2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5B75-0F5D-430B-903E-C3A65D7EA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12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1BFA04-B8F3-3BC4-186D-3F273D1B4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0A3CA4A-62D6-93D0-AE7C-75B564E74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286BA4-A284-E440-5000-07B166A08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7FB2C-54DE-4065-A3BB-DC6DCE9C493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53BBBA-5187-E334-B117-C74DCAA92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B403FD-1CCB-3523-2FC6-0C5D44601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5B75-0F5D-430B-903E-C3A65D7EA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25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EAE76D8-3193-C58C-79B7-F0882A60B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46906BD-955B-6514-3C6B-4955CF197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FADA65-2310-258C-E5F6-BE1BA8194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7FB2C-54DE-4065-A3BB-DC6DCE9C493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7290CB-8E5A-3F3A-BD33-42FD4E143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60BFEA-C741-3462-9175-E05E8C9EB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5B75-0F5D-430B-903E-C3A65D7EA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6490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80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185E3C-34B4-9EA3-B8FD-7AF03BD35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022937-E1B2-2393-9C45-A3A71B671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5CA1CB-3982-CCB8-B704-0137F9237B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7FB2C-54DE-4065-A3BB-DC6DCE9C493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DAC93C-B535-E89C-7B66-12E04D26B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15BBA8-B1F3-2DBE-6B1E-6B46598DB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15B75-0F5D-430B-903E-C3A65D7EA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98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10071"/>
            <a:ext cx="3895032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Бюджет vs Факт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879806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Исполнение бюджета по ключевым статьям за 2024 год, млн ₽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98086" y="6170845"/>
            <a:ext cx="10795524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Выручка превысила бюджет на 4,3%. ФОТ — единственная статья с перерасходом (+4,7%), обусловленным наймом в Q3–Q4. Операционные расходы — ниже плана.</a:t>
            </a:r>
            <a:endParaRPr lang="en-US" sz="1050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98086" y="1128780"/>
          <a:ext cx="9938812" cy="5060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073D348-723D-8502-567D-3A14D4505AA3}"/>
              </a:ext>
            </a:extLst>
          </p:cNvPr>
          <p:cNvSpPr/>
          <p:nvPr/>
        </p:nvSpPr>
        <p:spPr>
          <a:xfrm>
            <a:off x="11066106" y="6512767"/>
            <a:ext cx="1125894" cy="345233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Широкоэкранный</PresentationFormat>
  <Paragraphs>4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Arimo</vt:lpstr>
      <vt:lpstr>Calibri</vt:lpstr>
      <vt:lpstr>Calibri Light</vt:lpstr>
      <vt:lpstr>Syne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2026-06-28T15:33:27Z</dcterms:created>
  <dcterms:modified xsi:type="dcterms:W3CDTF">2026-06-28T15:33:50Z</dcterms:modified>
</cp:coreProperties>
</file>