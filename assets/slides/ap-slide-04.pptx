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9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29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lt1">
                  <a:lumMod val="85000"/>
                </a:schemeClr>
              </a:solidFill>
              <a:latin typeface="+mj-lt"/>
              <a:ea typeface="+mj-ea"/>
              <a:cs typeface="+mj-cs"/>
            </a:defRPr>
          </a:pPr>
          <a:endParaRPr lang="ru-RU"/>
        </a:p>
      </c:txPr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Пользователи, тыс.</c:v>
                </c:pt>
              </c:strCache>
            </c:strRef>
          </c:tx>
          <c:spPr>
            <a:gradFill>
              <a:gsLst>
                <a:gs pos="100000">
                  <a:schemeClr val="accent2"/>
                </a:gs>
                <a:gs pos="0">
                  <a:schemeClr val="accent2">
                    <a:lumMod val="75000"/>
                  </a:schemeClr>
                </a:gs>
              </a:gsLst>
              <a:lin ang="0" scaled="1"/>
            </a:gradFill>
            <a:ln>
              <a:noFill/>
            </a:ln>
            <a:effectLst>
              <a:innerShdw dist="12700" dir="16200000">
                <a:schemeClr val="lt1">
                  <a:alpha val="75000"/>
                </a:schemeClr>
              </a:innerShdw>
            </a:effectLst>
          </c:spPr>
          <c:cat>
            <c:strRef>
              <c:f>Sheet1!$A$2:$A$13</c:f>
              <c:strCache>
                <c:ptCount val="12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  <c:pt idx="4">
                  <c:v>Май</c:v>
                </c:pt>
                <c:pt idx="5">
                  <c:v>Июн</c:v>
                </c:pt>
                <c:pt idx="6">
                  <c:v>Июл</c:v>
                </c:pt>
                <c:pt idx="7">
                  <c:v>Авг</c:v>
                </c:pt>
                <c:pt idx="8">
                  <c:v>Сен</c:v>
                </c:pt>
                <c:pt idx="9">
                  <c:v>Окт</c:v>
                </c:pt>
                <c:pt idx="10">
                  <c:v>Ноя</c:v>
                </c:pt>
                <c:pt idx="11">
                  <c:v>Дек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142</c:v>
                </c:pt>
                <c:pt idx="1">
                  <c:v>148</c:v>
                </c:pt>
                <c:pt idx="2">
                  <c:v>155</c:v>
                </c:pt>
                <c:pt idx="3">
                  <c:v>165</c:v>
                </c:pt>
                <c:pt idx="4">
                  <c:v>178</c:v>
                </c:pt>
                <c:pt idx="5">
                  <c:v>185</c:v>
                </c:pt>
                <c:pt idx="6">
                  <c:v>180</c:v>
                </c:pt>
                <c:pt idx="7">
                  <c:v>195</c:v>
                </c:pt>
                <c:pt idx="8">
                  <c:v>210</c:v>
                </c:pt>
                <c:pt idx="9">
                  <c:v>228</c:v>
                </c:pt>
                <c:pt idx="10">
                  <c:v>244</c:v>
                </c:pt>
                <c:pt idx="11">
                  <c:v>256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55-4793-96E7-0B3E005E016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lt1">
                  <a:alpha val="40000"/>
                </a:schemeClr>
              </a:solidFill>
              <a:round/>
            </a:ln>
            <a:effectLst/>
          </c:spPr>
        </c:dropLine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75" cap="flat" cmpd="sng" algn="ctr">
            <a:solidFill>
              <a:schemeClr val="lt1">
                <a:lumMod val="75000"/>
              </a:schemeClr>
            </a:solidFill>
            <a:round/>
            <a:headEnd type="none" w="sm" len="sm"/>
            <a:tailEnd type="none" w="sm" len="sm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cap="all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prstDash val="sysDot"/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-210115992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zero"/>
    <c:showDLblsOverMax val="0"/>
  </c:chart>
  <c:spPr>
    <a:solidFill>
      <a:schemeClr val="dk1">
        <a:lumMod val="75000"/>
        <a:lumOff val="25000"/>
      </a:schemeClr>
    </a:solidFill>
    <a:ln w="9525" cap="flat" cmpd="sng" algn="ctr">
      <a:solidFill>
        <a:schemeClr val="lt1">
          <a:lumMod val="75000"/>
        </a:schemeClr>
      </a:solidFill>
      <a:round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Reversed" id="22">
  <a:schemeClr val="accent2"/>
</cs:colorStyle>
</file>

<file path=ppt/charts/style1.xml><?xml version="1.0" encoding="utf-8"?>
<cs:chartStyle xmlns:cs="http://schemas.microsoft.com/office/drawing/2012/chartStyle" xmlns:a="http://schemas.openxmlformats.org/drawingml/2006/main" id="277">
  <cs:axisTitle>
    <cs:lnRef idx="0"/>
    <cs:fillRef idx="0"/>
    <cs:effectRef idx="0"/>
    <cs:fontRef idx="minor">
      <a:schemeClr val="lt1">
        <a:lumMod val="85000"/>
      </a:schemeClr>
    </cs:fontRef>
    <cs:defRPr sz="1197" kern="1200"/>
  </cs:axisTitle>
  <cs:categoryAxis>
    <cs:lnRef idx="0"/>
    <cs:fillRef idx="0"/>
    <cs:effectRef idx="0"/>
    <cs:fontRef idx="minor">
      <a:schemeClr val="lt1">
        <a:lumMod val="85000"/>
      </a:schemeClr>
    </cs:fontRef>
    <cs:spPr>
      <a:ln w="9575" cap="flat" cmpd="sng" algn="ctr">
        <a:solidFill>
          <a:schemeClr val="lt1">
            <a:lumMod val="75000"/>
          </a:schemeClr>
        </a:solidFill>
        <a:round/>
        <a:headEnd type="none" w="sm" len="sm"/>
        <a:tailEnd type="none" w="sm" len="sm"/>
      </a:ln>
    </cs:spPr>
    <cs:defRPr sz="1197" b="1" kern="1200" cap="all" baseline="0"/>
  </cs:categoryAxis>
  <cs:chartArea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lt1">
            <a:lumMod val="7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lt1">
        <a:lumMod val="85000"/>
      </a:schemeClr>
    </cs:fontRef>
    <cs:spPr>
      <a:solidFill>
        <a:schemeClr val="dk1">
          <a:lumMod val="65000"/>
          <a:lumOff val="35000"/>
        </a:schemeClr>
      </a:solidFill>
      <a:ln>
        <a:solidFill>
          <a:schemeClr val="lt1">
            <a:lumMod val="50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gradFill>
        <a:gsLst>
          <a:gs pos="100000">
            <a:schemeClr val="phClr"/>
          </a:gs>
          <a:gs pos="0">
            <a:schemeClr val="phClr">
              <a:lumMod val="75000"/>
            </a:schemeClr>
          </a:gs>
        </a:gsLst>
        <a:lin ang="0" scaled="1"/>
      </a:gradFill>
      <a:effectLst>
        <a:innerShdw dist="12700" dir="16200000">
          <a:schemeClr val="lt1">
            <a:alpha val="75000"/>
          </a:schemeClr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>
        <a:gsLst>
          <a:gs pos="100000">
            <a:schemeClr val="phClr"/>
          </a:gs>
          <a:gs pos="0">
            <a:schemeClr val="phClr">
              <a:lumMod val="75000"/>
            </a:schemeClr>
          </a:gs>
        </a:gsLst>
        <a:lin ang="0" scaled="1"/>
      </a:gradFill>
      <a:effectLst>
        <a:innerShdw dist="12700" dir="16200000">
          <a:schemeClr val="lt1">
            <a:alpha val="75000"/>
          </a:schemeClr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540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50000"/>
      </a:schemeClr>
    </cs:fontRef>
    <cs:spPr>
      <a:ln w="9525">
        <a:solidFill>
          <a:schemeClr val="lt1">
            <a:lumMod val="50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7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lt1">
            <a:alpha val="4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lt1">
            <a:alpha val="4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prstDash val="sysDot"/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6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bg1">
        <a:lumMod val="85000"/>
      </a:schemeClr>
    </cs:fontRef>
    <cs:spPr>
      <a:ln w="19050" cap="flat" cmpd="sng" algn="ctr">
        <a:solidFill>
          <a:schemeClr val="bg1">
            <a:lumMod val="85000"/>
          </a:schemeClr>
        </a:solidFill>
        <a:round/>
        <a:headEnd type="none" w="sm" len="sm"/>
        <a:tailEnd type="none" w="sm" len="sm"/>
      </a:ln>
    </cs:spPr>
    <cs:defRPr sz="1197" b="1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seriesLine>
  <cs:title>
    <cs:lnRef idx="0"/>
    <cs:fillRef idx="0"/>
    <cs:effectRef idx="0"/>
    <cs:fontRef idx="major">
      <a:schemeClr val="lt1">
        <a:lumMod val="8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85000"/>
        </a:schemeClr>
      </a:solidFill>
      <a:ln w="9525">
        <a:solidFill>
          <a:schemeClr val="dk1">
            <a:lumMod val="50000"/>
          </a:schemeClr>
        </a:solidFill>
        <a:round/>
      </a:ln>
    </cs:spPr>
  </cs:upBar>
  <cs:valueAxis>
    <cs:lnRef idx="0"/>
    <cs:fillRef idx="0"/>
    <cs:effectRef idx="0"/>
    <cs:fontRef idx="minor">
      <a:schemeClr val="lt1">
        <a:lumMod val="7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3B07D2-0557-4E1F-9042-9B810EBD2A2A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DCFA43-D62B-4CF1-BAC5-B85841DF0D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30869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11D3F9-FE75-2D24-7E1A-9AC8989FC2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7EB5C98-EF0C-6D64-7130-6E1FD7C4F4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A5FBB54-5395-AB23-5FCB-40D35EEB8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A83A7-AB26-49BA-A764-261A9651BA6B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A13F316-0D8E-4A03-B70E-12BEF1505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25F774D-0A58-24CA-4FD8-5652FF5FB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28487-DA56-4529-927C-06C3C617B6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2904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4D81B9-674F-135E-B467-75AAA647B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3AD58A8-B9BF-3F7E-1AA8-C55654C027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D0268EE-67C1-2E30-01DD-088FB9CD7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A83A7-AB26-49BA-A764-261A9651BA6B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E705C8B-29AD-267E-0B37-8BC39F3B4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7184009-F022-5CA7-4E88-A997BB1F6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28487-DA56-4529-927C-06C3C617B6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0879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011621-401F-BDD6-54DE-C79E19F27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6987F91-82CE-540C-A187-5F6FB8AB6A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E2F7E3F-741A-C586-0F47-83972B53A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A83A7-AB26-49BA-A764-261A9651BA6B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A1BE25C-FFD2-2929-4E97-69AA2CBD6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427820A-F762-3F01-B4E1-0D1A01DFB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28487-DA56-4529-927C-06C3C617B6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2956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0CFB99-ECFB-0799-DEC8-A41C02CF1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656CE5B-BBCD-80BF-5805-7A373834C1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9D63D35-201D-A337-7BF8-D6D280AE3A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3963072-2028-67E4-D927-E7007BB54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A83A7-AB26-49BA-A764-261A9651BA6B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2376726-4ACC-D374-DAC2-BC0F0050D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4054451-72D5-3C8F-6E5D-5E8EBF560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28487-DA56-4529-927C-06C3C617B6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523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3F399D-DE3C-9CE2-CF8F-1E92C0CAD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24E3601-6881-0A3F-E810-1EFB7ADEB1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1C3344C-8DA0-320D-A0A1-1AF7A18B2F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EAE178B-8BD7-35A7-ED60-9844320054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846F3BA-857E-F065-02DF-43A2C8E2D2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4B2A75E-FA99-DAE9-DC15-4157824A2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A83A7-AB26-49BA-A764-261A9651BA6B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991ADC8-AAF6-5B17-3A82-AFC00EE8C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A950C91-2AB7-992D-0678-1D695E45B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28487-DA56-4529-927C-06C3C617B6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2709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661BD7-8897-ABBF-D275-321A56A76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411B8EB-0287-3D4F-EC79-2420215A7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A83A7-AB26-49BA-A764-261A9651BA6B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A3482F1-9E6D-290D-80BC-780A949C1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5910525-1D89-5363-8825-834B0C87E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28487-DA56-4529-927C-06C3C617B6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96017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0B07FEA-5267-2167-50BD-F24E77FBF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A83A7-AB26-49BA-A764-261A9651BA6B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5248EA2-2AED-5E08-6DC8-02F85405E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9C9CA9F-543A-0765-7C68-4F617DFF4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28487-DA56-4529-927C-06C3C617B6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0486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8FF39C-16B6-BAD0-2F44-9550F079D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702D893-90F2-21BF-4697-35839F1B4D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F97E694-5D18-F2B9-55E1-8F9D27B94F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3CCE86C-C67D-5C73-CE9E-E0E65A892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A83A7-AB26-49BA-A764-261A9651BA6B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3953421-C01B-1A00-B171-328F72DF5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15AA9F3-175D-823F-3090-D5509BEED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28487-DA56-4529-927C-06C3C617B6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6513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FFDCFE-0602-6FC3-0AAF-F03E8CB24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23513C5-A01D-DDBF-657A-4890B600F4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A6A69AA-F337-1BC1-B246-B8DBEB52C8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7D2F3AC-C2DC-FC03-BD20-D9D60C78B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A83A7-AB26-49BA-A764-261A9651BA6B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9682387-344E-230B-B0A8-6D4912FB3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39854DC-59A1-5DC5-FDCF-67542924C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28487-DA56-4529-927C-06C3C617B6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4040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7C4C54-62E8-60BE-8495-30D3D2084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2492459-FE99-490A-4FAC-CE0639305C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1C5EC6B-2F19-5DF1-C50F-97A3C668A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A83A7-AB26-49BA-A764-261A9651BA6B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D4773C8-F582-EEDA-E3E2-E50E8CA76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CAF9673-A7EF-E122-1E4F-CBEA9606A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28487-DA56-4529-927C-06C3C617B6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83550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57317A6-B307-BBC5-021A-25AB858903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085E5A6-8E01-63C2-51CE-3ADCB376AD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67D3030-E3B0-C804-DB04-E08D17981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A83A7-AB26-49BA-A764-261A9651BA6B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5DD2F85-1F0C-3843-F729-5BA7F2092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63551D0-2951-5C35-3C29-F5B344000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28487-DA56-4529-927C-06C3C617B6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04953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259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9DBEDD-C144-3B90-7896-449370D10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1846797-AE7D-EBC4-CA25-3870B0A66C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E264995-5638-F5DE-B62C-5EDFD89094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6A83A7-AB26-49BA-A764-261A9651BA6B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C5CD424-D579-1730-3A31-39F4857700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549ACE3-D7E4-4E89-6C43-B4D37CB6A8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C28487-DA56-4529-927C-06C3C617B6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2144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9927"/>
            <a:ext cx="4849394" cy="429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Динамика пользователей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652075" y="1158577"/>
            <a:ext cx="11478330" cy="1896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тыс. уникальных пользователей в месяц · 2024 год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652075" y="6233269"/>
            <a:ext cx="11478330" cy="1896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Аудитория выросла на </a:t>
            </a:r>
            <a:r>
              <a:rPr lang="en-US" sz="1050" b="1" dirty="0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80% за год</a:t>
            </a:r>
            <a:r>
              <a:rPr lang="en-US" sz="10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с 142 тыс. до 256 тыс. пользователей. Пик пришёлся на декабрь, сезонный спад в июле незначителен.</a:t>
            </a:r>
            <a:endParaRPr lang="en-US" sz="1050" dirty="0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1652075" y="1460401"/>
          <a:ext cx="8151509" cy="45658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6B9DCAF-17BA-DDAD-0A62-E32F488D4151}"/>
              </a:ext>
            </a:extLst>
          </p:cNvPr>
          <p:cNvSpPr/>
          <p:nvPr/>
        </p:nvSpPr>
        <p:spPr>
          <a:xfrm>
            <a:off x="11038114" y="6503438"/>
            <a:ext cx="1153886" cy="354562"/>
          </a:xfrm>
          <a:prstGeom prst="rect">
            <a:avLst/>
          </a:prstGeom>
          <a:solidFill>
            <a:srgbClr val="292C32"/>
          </a:solidFill>
          <a:ln>
            <a:solidFill>
              <a:srgbClr val="292C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</Words>
  <Application>Microsoft Office PowerPoint</Application>
  <PresentationFormat>Широкоэкранный</PresentationFormat>
  <Paragraphs>5</Paragraphs>
  <Slides>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IBM Plex Sans Medium</vt:lpstr>
      <vt:lpstr>Roboto</vt:lpstr>
      <vt:lpstr>Roboto Bold</vt:lpstr>
      <vt:lpstr>Тема Office</vt:lpstr>
      <vt:lpstr>Презентация PowerPoint</vt:lpstr>
    </vt:vector>
  </TitlesOfParts>
  <Company>WolfishLair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Леонид Марьянков</dc:creator>
  <cp:lastModifiedBy>Леонид Марьянков</cp:lastModifiedBy>
  <cp:revision>1</cp:revision>
  <dcterms:created xsi:type="dcterms:W3CDTF">2026-06-28T12:19:21Z</dcterms:created>
  <dcterms:modified xsi:type="dcterms:W3CDTF">2026-06-28T12:19:46Z</dcterms:modified>
</cp:coreProperties>
</file>