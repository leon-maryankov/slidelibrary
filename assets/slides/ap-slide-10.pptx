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7A0810-EDC3-488D-B5B6-CFDCC430A467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D380A-4D86-405C-8316-F90EB75B5F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050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85566-BA85-6C1A-E6ED-1D4BF4703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13BCD9-6AD4-F406-5FB2-D0007ED33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20D6F8-6984-5785-72A4-F1F6DE83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3CD24-EE3F-4CF0-AF9D-B85F7631236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25C4EF-1496-E298-60D7-D051AB88B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B3B08C-0AA2-7BCF-5947-77D443F6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3B59-8CF1-4C66-BBD1-D1D78AD0F3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252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634A9E-220C-BBFE-FD68-C536855F8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5129EA-398A-6E65-DF23-16C92F2ED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B43D9D-5789-5C4A-DC70-EDA48C82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3CD24-EE3F-4CF0-AF9D-B85F7631236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7965CB-8BA2-FB29-4530-734CAA567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16D5DE-0DE9-D744-8EA6-7635BDBE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3B59-8CF1-4C66-BBD1-D1D78AD0F3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91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F9F3C-202C-410E-E8E3-2619C710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9601C8-A25D-BE9E-381F-178C13B58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96FDED-CD5C-E802-F5E1-21C4F741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3CD24-EE3F-4CF0-AF9D-B85F7631236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B32734-C0B0-4786-110C-B7ACDF09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0AF85E-7F66-486B-57AA-A67E7A699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3B59-8CF1-4C66-BBD1-D1D78AD0F3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605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773CCF-883A-4303-FCF6-69F6C1BB6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489B81-5821-7DCF-B65C-97FB758E4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705808-C92E-C0BD-89ED-6D361DC40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C9921C-4EE9-CBB7-5944-6702CB59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3CD24-EE3F-4CF0-AF9D-B85F7631236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C8FCA2-8C01-7CF4-21C1-2F623A534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51DB72-C22B-A69B-0A94-A5B58B01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3B59-8CF1-4C66-BBD1-D1D78AD0F3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85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D786E1-F8D9-EAF1-4CCF-F2E362386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CBE91F-73A4-9875-47C6-3735562C7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1B32692-4F6E-753F-662D-18DAA4F64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3121FD5-D258-9461-094F-F0E6987481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5AB3B5-1C19-3C8A-DE53-7205D4D1CB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6951FE-0831-D1C5-9A26-DB2BC0404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3CD24-EE3F-4CF0-AF9D-B85F7631236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C0D66C3-C8F5-E344-1965-89870E4D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47A3D82-5718-9FBA-C4C3-7C28583A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3B59-8CF1-4C66-BBD1-D1D78AD0F3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174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06A8E-92BF-F75B-0D41-B2D9B984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051BAA-D080-59FD-294C-9F5960B16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3CD24-EE3F-4CF0-AF9D-B85F7631236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946E10F-A4D7-E392-9251-721090CE7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E9FC8AE-30D1-E83C-276C-E31BA448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3B59-8CF1-4C66-BBD1-D1D78AD0F3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779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5249701-58B9-FD29-E5F6-188F9229D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3CD24-EE3F-4CF0-AF9D-B85F7631236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475622-76D6-4922-3834-089B593E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950B68-D055-1024-5313-D36359E8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3B59-8CF1-4C66-BBD1-D1D78AD0F3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032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989ED4-F886-CAE7-66BC-3165EFD2F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276A14-558B-D5A0-C9BB-BA20AD9DF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762777-16B0-3409-011C-6CF334BB7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CE6D57-D808-CF61-A2A8-5A42BF30F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3CD24-EE3F-4CF0-AF9D-B85F7631236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BD9045-7BB2-844D-D40A-759BE54C6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AF7C7E-D9EB-8488-5870-CF3D56D7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3B59-8CF1-4C66-BBD1-D1D78AD0F3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624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F2386D-9951-BD54-376A-A239D8FCA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B98146E-ECE3-FD1A-C2ED-13B16BF435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BF1FC0-6C1E-0EC5-2972-C738B2FE1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397023-B93D-44C9-F73B-1B50B5F3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3CD24-EE3F-4CF0-AF9D-B85F7631236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7138F7-F3CD-4E4F-40EF-AC115D812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ACEFEC-3DEC-AD88-93A8-195332837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3B59-8CF1-4C66-BBD1-D1D78AD0F3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356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5CF43-DBCC-CBE9-185A-0EFD1B21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EDED04-90AE-BD7F-CFEE-8C2D2B9F3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A0EE1B-48A3-9032-403E-8866BD9E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3CD24-EE3F-4CF0-AF9D-B85F7631236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A9AA68-116F-D9BC-5437-A55229803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F73A65-9480-60D4-46B8-3222C2A28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3B59-8CF1-4C66-BBD1-D1D78AD0F3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E7B4AB8-2513-E634-5550-8F7AA2878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068B49-8039-9CF5-A555-87AAFE05D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36C1AA-F9F0-F7F1-3F51-480CB5DCF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3CD24-EE3F-4CF0-AF9D-B85F7631236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D7D8C6-DF94-A9E7-C326-F632CEC28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4553C0-DA1B-69A4-28F6-8AA79D18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23B59-8CF1-4C66-BBD1-D1D78AD0F3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978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4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68DBE-96BA-7879-17D6-5E41D00F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A5FEFA-06B1-A417-338E-399FAAE18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B2E7AD-F5B0-8CCB-8E52-EC99082BB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3CD24-EE3F-4CF0-AF9D-B85F76312364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823E7D-CCA8-B4AB-0CBE-BC567AB02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23E04C-61CD-9646-0C8B-E4A4B4B49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23B59-8CF1-4C66-BBD1-D1D78AD0F3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356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6659"/>
            <a:ext cx="1626750" cy="286345"/>
          </a:xfrm>
          <a:prstGeom prst="roundRect">
            <a:avLst>
              <a:gd name="adj" fmla="val 6733"/>
            </a:avLst>
          </a:prstGeom>
          <a:solidFill>
            <a:srgbClr val="4D1F00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624780"/>
            <a:ext cx="2043657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ИТОГИ И ПРИОРИТЕТЫ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17575"/>
            <a:ext cx="4626157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Ключевые выводы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624409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Результаты 2024 года и стратегические приоритеты на 2025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15728"/>
            <a:ext cx="10868745" cy="9640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1338" y="2347119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459670" y="2195413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Рост выручки +18%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459670" y="2528292"/>
            <a:ext cx="989087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План перевыполнен в Q1–Q3. Дефицит Q4 требует отдельного анализа конверсии новых клиентов.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16263"/>
            <a:ext cx="10868745" cy="9640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81338" y="3447653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1459670" y="3295948"/>
            <a:ext cx="281268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Онлайн-канал — лидер роста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459670" y="3628827"/>
            <a:ext cx="989087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+34% YoY, доля выросла с 14% до 20%. Ключевой драйвер масштабирования в 2025.</a:t>
            </a:r>
            <a:endParaRPr lang="en-US" sz="12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216797"/>
            <a:ext cx="10868745" cy="96400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1338" y="454818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1459670" y="4396482"/>
            <a:ext cx="32977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NPS 72 — исторический максимум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459670" y="4729361"/>
            <a:ext cx="989087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+8 пунктов за год. Драйверы: улучшение поддержки и скорости доставки.</a:t>
            </a:r>
            <a:endParaRPr lang="en-US" sz="12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17331"/>
            <a:ext cx="10868745" cy="96400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1338" y="5648722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1459670" y="5497016"/>
            <a:ext cx="315944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Приоритет 2025: новые клиенты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1459670" y="5829895"/>
            <a:ext cx="989087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Привлечение отстаёт от плана (−4%). Необходимо пересмотреть программы онбординга и </a:t>
            </a:r>
            <a:r>
              <a:rPr lang="en-US" sz="125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квалификации</a:t>
            </a:r>
            <a:r>
              <a:rPr lang="en-US" sz="12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лидов.</a:t>
            </a:r>
            <a:endParaRPr lang="en-US" sz="12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CF32F54-5AE3-F3C8-436E-0B4698B6F447}"/>
              </a:ext>
            </a:extLst>
          </p:cNvPr>
          <p:cNvSpPr/>
          <p:nvPr/>
        </p:nvSpPr>
        <p:spPr>
          <a:xfrm>
            <a:off x="11038114" y="6503438"/>
            <a:ext cx="1153886" cy="354562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Широкоэкранный</PresentationFormat>
  <Paragraphs>16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IBM Plex Sans Medium</vt:lpstr>
      <vt:lpstr>Roboto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2026-06-28T12:25:38Z</dcterms:created>
  <dcterms:modified xsi:type="dcterms:W3CDTF">2026-06-28T12:26:08Z</dcterms:modified>
</cp:coreProperties>
</file>