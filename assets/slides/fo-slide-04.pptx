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</a:rPr>
              <a:t>млн ₽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₽</c:v>
                </c:pt>
              </c:strCache>
            </c:strRef>
          </c:tx>
          <c:spPr>
            <a:solidFill>
              <a:srgbClr val="8061FF"/>
            </a:solidFill>
            <a:ln w="25400">
              <a:solidFill>
                <a:srgbClr val="8061FF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Свободный поток</c:v>
                </c:pt>
                <c:pt idx="1">
                  <c:v>Операционный</c:v>
                </c:pt>
                <c:pt idx="2">
                  <c:v>Инвестиционный</c:v>
                </c:pt>
                <c:pt idx="3">
                  <c:v>Финансовый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</c:v>
                </c:pt>
                <c:pt idx="1">
                  <c:v>520</c:v>
                </c:pt>
                <c:pt idx="2">
                  <c:v>-180</c:v>
                </c:pt>
                <c:pt idx="3">
                  <c:v>-135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8061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3B-4CE2-8B65-1A0EB16BE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chemeClr val="accent5">
                    <a:lumMod val="75000"/>
                  </a:schemeClr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>
              <a:solidFill>
                <a:srgbClr val="1A106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5A292-E2CC-4FBE-BE06-B86748FC067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7CC24-2FF9-4DF1-BF45-DF76F95C08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93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F8B0D-F369-8572-42C8-DEAB1F9CB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CA7F33-00F8-8DE6-A443-9DECEB6B8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A1EAA-1DF4-566B-6743-C2BA1483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2A12F-5025-290D-7236-B51EBFB5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3FF3AF-F23A-ECA0-E50C-15C09704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87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D0D1E-5B1D-75C7-797B-E7BD9432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06F75A-982C-6951-81E1-73622209D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56FF1E-1877-3DF9-BAE7-22C6A7F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6C5497-06AE-29CC-95F9-53CFD62F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45381-996D-7CAB-62D8-6DD4EDFC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44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294B2-7E1A-9788-F84B-C3F9B6D0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92890F-130E-3577-9A3D-A7FCF91F1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713F7D-94F7-2768-1930-91EF0D6C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FFEC2-4E97-3448-40A4-74D1FFE9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A9E77E-94A2-597A-22E9-8E13F63F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8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E76A1-6D8D-F839-1176-17B777C6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B19D9-B8E0-119D-D852-A83508846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63C9FC-5A1E-FEEA-E032-E9CDBC008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6A3E64-DA27-756E-5EB2-44740C40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AB067A-D5D5-F9A6-B10F-4E51F8DD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DF35CF-C6B3-3C3F-D79B-3DF3901F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71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28C68-CB17-B280-F500-E635BE07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67E6E-ACD8-3B28-8EB5-A892E2506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A39910-641A-9DCD-FD3E-89B1B425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461E41-49BE-2309-2472-DAC9E1B0E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975B4E-C423-BB63-6506-E657AAA83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9C8395-279B-B1CB-406B-0A135774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A6D242-ED82-3BF0-3F5B-DDB2E267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3C0175-51CB-C423-8147-52206B28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22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F5217-497D-CFB1-0B82-AAD1AC75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657A57-4730-142D-6268-565312B9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065C7F-0FED-1ACD-99A6-DD041751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2C6796-EA35-1987-CC68-947CD54A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29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54F9DA-504F-A129-1A1C-70DFDF79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7E5A51-2183-754E-D651-25BE6DD1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E5EB9F-86AA-6B7A-BD0B-EB2BFB57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03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87AD-5B4F-D29B-BE96-6A420222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E4EC42-61C5-0D6C-C097-FBE2D3142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44EBDE-C2B7-040D-14BB-00B309A8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B18F1B-2DCD-21F4-421D-91CE6F50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3C4988-9B78-DA96-6B61-058007AA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747805-0335-51B5-860F-57043E13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75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1DBA4-24DA-D012-6EC7-E9E51A27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E73D28C-F68D-21A0-3922-E2ECF3507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5B09E8-0BC2-CD81-4CAD-BE3736A2B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25250B-6EC1-33D7-B1C2-5D70C9C6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74191B-8DC6-F463-C8E9-DF43C1B4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EBE372-B153-DE2D-6F34-4ADEBA49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28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C191D-B527-EE00-76D0-3BAD69B0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8F631C-2E33-FE34-52FB-13E11B7B6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D6BD0B-F54F-5016-7681-41CED15C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46BE9-9BDB-46D3-CDD8-D4367D65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51F1F9-B0A4-B557-4F74-D0C1A72D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63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CA67EC-EF75-C8C7-9DD5-225406146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1C98B-3223-E6A9-98C8-5918AF142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D39DCA-D33A-D817-1F15-E39E3E20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25FBAB-32DF-75CE-FC51-9CC29EC9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C8F20E-89C9-D216-BDEE-F54B3598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663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7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EF730-11C2-8876-7F89-7F03A288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D7C4E0-3204-52AE-7C8B-B22D533EB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ED0424-DD57-82FC-CBBC-9CB9722C5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9EC7C-2667-4C23-A2CF-E5D9774AC0E0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5D6B71-A271-34F7-661A-8FDCDCCBB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130359-A3B4-9A73-E152-35B530B9D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1858E-6428-4862-9ACA-457BE50B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96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56904"/>
            <a:ext cx="5776669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Денежный поток (Cash Flow)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5" y="961355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Операционный, инвестиционный и финансовый потоки за 2024 год, млн ₽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5957888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Положительный операционный поток (520 млн ₽) покрывает инвестиционные вложения и обслуживание долга. Компания сохраняет устойчивость ликвидности.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5" y="1060888"/>
          <a:ext cx="9705547" cy="4644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F2C15B-B201-8DAC-E137-E16D11E4FD7B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Широкоэкранный</PresentationFormat>
  <Paragraphs>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2026-06-28T15:30:59Z</dcterms:created>
  <dcterms:modified xsi:type="dcterms:W3CDTF">2026-06-28T15:31:11Z</dcterms:modified>
</cp:coreProperties>
</file>