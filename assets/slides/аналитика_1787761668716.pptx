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1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590</c:v>
                </c:pt>
                <c:pt idx="2">
                  <c:v>630</c:v>
                </c:pt>
                <c:pt idx="3">
                  <c:v>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1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</c:v>
                </c:pt>
                <c:pt idx="1">
                  <c:v>560</c:v>
                </c:pt>
                <c:pt idx="2">
                  <c:v>620</c:v>
                </c:pt>
                <c:pt idx="3">
                  <c:v>700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977db9d-eb08-4460-941f-f05ce5714f7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</c:v>
                </c:pt>
              </c:strCache>
            </c:strRef>
          </c:tx>
          <c:spPr>
            <a:ln w="31750" cap="flat" cmpd="sng" algn="ctr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 cmpd="sng" algn="ctr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</c:v>
                </c:pt>
                <c:pt idx="1">
                  <c:v>225</c:v>
                </c:pt>
                <c:pt idx="2">
                  <c:v>240</c:v>
                </c:pt>
                <c:pt idx="3">
                  <c:v>255</c:v>
                </c:pt>
                <c:pt idx="4">
                  <c:v>270</c:v>
                </c:pt>
                <c:pt idx="5">
                  <c:v>290</c:v>
                </c:pt>
                <c:pt idx="6">
                  <c:v>285</c:v>
                </c:pt>
                <c:pt idx="7">
                  <c:v>295</c:v>
                </c:pt>
                <c:pt idx="8">
                  <c:v>310</c:v>
                </c:pt>
                <c:pt idx="9">
                  <c:v>330</c:v>
                </c:pt>
                <c:pt idx="10">
                  <c:v>345</c:v>
                </c:pt>
                <c:pt idx="11">
                  <c:v>360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Новые</c:v>
                </c:pt>
              </c:strCache>
            </c:strRef>
          </c:tx>
          <c:spPr>
            <a:ln w="31750" cap="flat" cmpd="sng" algn="ctr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 cmpd="sng" algn="ctr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</c:v>
                </c:pt>
                <c:pt idx="1">
                  <c:v>51</c:v>
                </c:pt>
                <c:pt idx="2">
                  <c:v>60</c:v>
                </c:pt>
                <c:pt idx="3">
                  <c:v>55</c:v>
                </c:pt>
                <c:pt idx="4">
                  <c:v>68</c:v>
                </c:pt>
                <c:pt idx="5">
                  <c:v>72</c:v>
                </c:pt>
                <c:pt idx="6">
                  <c:v>65</c:v>
                </c:pt>
                <c:pt idx="7">
                  <c:v>70</c:v>
                </c:pt>
                <c:pt idx="8">
                  <c:v>75</c:v>
                </c:pt>
                <c:pt idx="9">
                  <c:v>88</c:v>
                </c:pt>
                <c:pt idx="10">
                  <c:v>90</c:v>
                </c:pt>
                <c:pt idx="11">
                  <c:v>97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82281bf-256c-4bb3-a369-c9d92ee3558f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A3A5C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Прямые продажи</c:v>
                </c:pt>
                <c:pt idx="1">
                  <c:v>Партнёры</c:v>
                </c:pt>
                <c:pt idx="2">
                  <c:v>Онлайн-канал</c:v>
                </c:pt>
                <c:pt idx="3">
                  <c:v>Реселлеры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2b267d0-9354-4200-b122-2dde1075fd6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₽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Продукт F</c:v>
                </c:pt>
                <c:pt idx="1">
                  <c:v>Продукт E</c:v>
                </c:pt>
                <c:pt idx="2">
                  <c:v>Продукт D</c:v>
                </c:pt>
                <c:pt idx="3">
                  <c:v>Продукт C</c:v>
                </c:pt>
                <c:pt idx="4">
                  <c:v>Продукт B</c:v>
                </c:pt>
                <c:pt idx="5">
                  <c:v>Продукт 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130</c:v>
                </c:pt>
                <c:pt idx="2">
                  <c:v>185</c:v>
                </c:pt>
                <c:pt idx="3">
                  <c:v>240</c:v>
                </c:pt>
                <c:pt idx="4">
                  <c:v>310</c:v>
                </c:pt>
                <c:pt idx="5">
                  <c:v>420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41b0068-7c7a-41ef-82b8-21df79fd96f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Используется для открытия любого аналитического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KPI-дашборда. Используйте для еженедельных и ежемесячных отчётов руководству.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Слайд: сравнение плана и факта по кварталам. Меняйте данные в графике прямо в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тренда пользователей. Показывает рост MAU и новых пользователей.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выручки по каналам продаж. Пончик-диаграмма + поясняющие карточки справа.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Воронка продаж с абсолютными значениями и конверсиями на каждом этапе.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сегментации 2×2 по ценности и вовлечённости клиентов.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Горизонтальный бар-чарт топ-6 продуктов по выручке. Удобен для ранжирования.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регионального анализа. Меняйте данные в PowerPoint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слайд с ключевыми выводами. Используется в конце любого аналитического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БИБЛИОТЕКА СЛАЙДОВ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Аналитика продаж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 клиентского опыта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Дашборд · Метрики · Тренды · Сегментация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 / Q1–Q4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Ключевые показатели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Итоги 2024 года · все метрики vs план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₽ 2,4 млрд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+18% vs 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508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6,7%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24328" y="2423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Конверсия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+1.2 п.п.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508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00016" y="2423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28346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8 пунктов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4264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508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75704" y="2423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Новые клиенты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28346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−4% vs план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Выручка по кварталам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млн ₽ · план vs факт ·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Динамика пользователей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тыс. уникальных пользователей в месяц · 2024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Структура выручки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 каналам продаж · 2024 год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4754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2801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4447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371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Прямые продажи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6276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21488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2313432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2402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Партнёры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4963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301752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31821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108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Онлайн-канал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36499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38862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4050792"/>
            <a:ext cx="347472" cy="3474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Реселлеры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423367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Воронка продаж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конверсия по этапам · 2024 Q4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5272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Охват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252728"/>
            <a:ext cx="27203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120 000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43800" y="1252728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1847088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95681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Лиды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95681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36 000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195681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55117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660904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Квалификация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60904"/>
            <a:ext cx="16322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10 800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2660904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25526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364992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364992"/>
            <a:ext cx="10881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5 400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364992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3959352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1E4A8C"/>
          </a:solidFill>
          <a:ln w="12700">
            <a:solidFill>
              <a:srgbClr val="1E4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4087368"/>
            <a:ext cx="90525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Сделка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087368"/>
            <a:ext cx="7406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2 160  1.8%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Сегментация клиентов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матрица: ценность × вовлечённость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Звёзды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07899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Высокая ценность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Высокая вовлечённость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Удерживать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 развивать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1155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Потенциал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107899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Низкая ценность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Высокая вовлечённость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Прогревать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 конвертировать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729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VIP риск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13639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Высокая ценность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Низкая вовлечённость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Реактивация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личный контакт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1729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Отток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313639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5661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Низкая ценность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Низкая вовлечённость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20624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Массовые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программы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Вовлечённость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Топ продуктов по выручке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млн ₽ · 2024 год · ТОП-6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Региональный анализ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выручка и динамика по регионам · 2024 vs 2023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  <a:gridCol w="1280160"/>
                <a:gridCol w="15544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Регион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Выручка 2024, 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Выручка 2023, 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Динамика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Доля рынка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Москва и МО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740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+20%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Санкт-Петербург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+14%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Поволжье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+11%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Урал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235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+15%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Сибирь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215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+8%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Другие регионы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295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275 млн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+7%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Ключевые выводы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Результаты 2024 года и приоритеты на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2529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Рост выручки +18%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675888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Превысили план в Q1–Q3. Дефицит в Q4 связан со снижением конверсии новых клиентов — требует отдельного анализа.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20700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22529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Лидер роста — онлайн-канал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691640"/>
            <a:ext cx="3675888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Онлайн показал +34% YoY. Доля канала выросла с 14% до 20% в структуре выручки.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8152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09981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NPS 72 — исторический максимум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566160"/>
            <a:ext cx="3675888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Рост на 8 пунктов к прошлому году. Основной драйвер — улучшение службы поддержки и скорости доставки.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374151">
              <a:alpha val="8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08152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309981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Приоритет 2025: новые клиенты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566160"/>
            <a:ext cx="3675888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Привлечение выросло в абсолюте, но отстаёт от плана. Необходимо пересмотреть программы онбординга.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1841</Words>
  <Application>WPS Presentation</Application>
  <PresentationFormat>On-screen Show (16:9)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Библиотека слайдов — Аналитика</dc:title>
  <dc:creator>PptxGenJS</dc:creator>
  <dc:subject>PptxGenJS Presentation</dc:subject>
  <cp:lastModifiedBy>Leonid</cp:lastModifiedBy>
  <cp:revision>2</cp:revision>
  <dcterms:created xsi:type="dcterms:W3CDTF">2026-06-27T08:01:00Z</dcterms:created>
  <dcterms:modified xsi:type="dcterms:W3CDTF">2026-06-27T08:09:37Z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9B98FACC49844181AE08D712FBDCC107_12</vt:lpwstr>
  </property>
  <property fmtid="{D5CDD505-2E9C-101B-9397-08002B2CF9AE}" pid="3" name="KSOProductBuildVer">
    <vt:lpwstr>1049-12.1.0.26880</vt:lpwstr>
  </property>
</Properties>
</file>