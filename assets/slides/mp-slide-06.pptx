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FD9BE"/>
                </a:solidFill>
              </a:rPr>
              <a:t>Конверсия,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Конверсия, %</c:v>
                </c:pt>
              </c:strCache>
            </c:strRef>
          </c:tx>
          <c:spPr>
            <a:solidFill>
              <a:srgbClr val="EF9C82"/>
            </a:solidFill>
            <a:ln w="25400">
              <a:solidFill>
                <a:srgbClr val="EF9C82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SEO</c:v>
                </c:pt>
                <c:pt idx="2">
                  <c:v>Контекст</c:v>
                </c:pt>
                <c:pt idx="3">
                  <c:v>Офлайн</c:v>
                </c:pt>
                <c:pt idx="4">
                  <c:v>SMM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12</c:v>
                </c:pt>
                <c:pt idx="2">
                  <c:v>8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EF9C8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952-4540-8882-7C5112B3A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>
              <a:solidFill>
                <a:srgbClr val="2A3C3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DB573-E5B5-4EC8-A488-D85B207AE7E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80A5C-3B4E-45BD-AA95-95AB8CAB31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9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3C95D-256D-C123-6AC4-2AB8C50CB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27C905-EFBB-441B-37A1-1F9472DB0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9A3EFD-6EDA-44E8-8294-C00720B8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9862EB-0A17-1F64-500C-75C38FB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7CCCF-88DE-209C-BB2C-60EB7C02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88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EA9AC-B68F-28CE-BAF9-8CE0CF4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C1C81-9ECE-E32A-E52F-4857E5A71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7581E7-0573-26D1-59F0-ED58CFC0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CE3E8-B3A7-296D-95FE-2EB4CAF3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D0995A-3D6C-C475-8D7A-E0684064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21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1FDF8-B873-45C9-2A0B-4255C39A8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AD856A-043B-39D4-51A2-1EEDA6170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EAE74-88A1-299E-49B2-C7067F58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D42121-0562-266E-C225-B399FD1C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C71B0D-A9A0-B700-E702-83DFD126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75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EFBB92-FB6A-EEB0-7BE9-F34B10D9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9FF4D9-D2F1-F74A-1D07-20308265A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AF9AE1-2DAA-E538-79F8-A13D5F513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6C6DC9-0F0E-3F11-8730-76007744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99E230-B4B0-47AE-E8C5-C3B6AEA1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8222DD-1E29-D40F-07A2-43720E22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6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6125-B7BD-B4AF-C141-AAA58D14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E526E3-E0FE-EB73-51F9-ADCF38D0A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2106F2-69E9-E3BB-3EE9-729AAC733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F90CEB-56C2-011A-B219-639011470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FC6EAC-F128-9051-AE3C-63BFC69B8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107A42-9309-3885-5253-E4F88382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C3F2D0-1670-4A21-F8B4-8A7AFE7F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887A70-3084-474D-FE2D-E41097C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03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C9C81-D302-823D-90D8-1E7EECA4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BE4E3A-5E6D-EEE8-B467-DFF57D92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AA6A58-7FB4-B3DA-1B86-BBF547E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57C008-F38F-2822-4D69-FCDA92B5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56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215830D-2D36-6EB7-8788-98979039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17B044-591D-A909-6F8A-57FA0302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F3DD6A-96FA-DB21-9F16-371C6553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87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3C3F3-957D-576C-F231-ED4FE9C2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B6D60E-85C2-8561-C3FF-87B18794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E17A7F-47B2-AD66-9903-EA5DBB4E4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4F67CA-CFAC-9BCA-CC7B-0EB7DE14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566194-C681-1896-C34F-F6BA7CE6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A91FE9-5193-89E3-9AF6-4ED15D62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70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CB39F-99C8-53C2-5316-360FCA14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F37969F-9445-B07A-78E9-89ADE2475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FA435D-7172-D6BF-497B-BD18C5262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311F1-4B0C-E5EC-C741-4128BBF8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C62394-6CE7-6B87-677C-216BC50F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C962D8-13A7-4E19-5495-6AAA5034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05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33CFB-29C4-710A-DDCB-A4B31B5CE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A89F33-70CB-039E-D453-F391F1B86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A3779A-C5B0-4732-C5A9-25A07A14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8E6A83-245C-25EF-BDE1-5F87436D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5B791-9144-93E7-3F74-01656179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60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4C224D-A8F5-1BED-152A-6563E13E2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026391-7914-1DC3-B777-2422F68D0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348E2B-9F17-DEDB-2154-016D1DAC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45151-6172-45BE-90D3-9266E627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FFBA9F-82BA-8C82-6EB1-3487733C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46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8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6D58C-926C-470C-C1E6-18F1F1B2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30C89F-56BC-1F76-0EB8-BB9F7FDD0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8F7D09-7C4D-099C-717F-E22CFA374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42F7B-AF2B-40C9-8B49-AED55C46079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94BAF9-E358-A2F9-17DB-DD5C65672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88096E-623B-681E-6C31-B3199CCA7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9A133-1AF7-40DF-B157-5D8BFA04F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41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8494"/>
            <a:ext cx="5473662" cy="54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Конверсия по каналам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546027"/>
            <a:ext cx="1140510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% конверсии в лид · среднее за 2024 год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29700" y="2205434"/>
            <a:ext cx="3078085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Инсайты по конверсии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29700" y="2654201"/>
            <a:ext cx="5170259" cy="246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Email-маркетинг лидирует с конверсией </a:t>
            </a: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16%</a:t>
            </a: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тёплая аудитория с высоким уровнем доверия. SEO обеспечивает 12% за счёт целевого органического трафика.</a:t>
            </a:r>
            <a:endParaRPr lang="en-US" sz="14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SMM и офлайн показывают низкую конверсию, несмотря на значительные вложения. Ключевая задача 2025 года — повысить качество трафика из этих каналов через улучшение таргетинга и форматов контента.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29700" y="5317232"/>
            <a:ext cx="5170259" cy="695920"/>
          </a:xfrm>
          <a:prstGeom prst="roundRect">
            <a:avLst>
              <a:gd name="adj" fmla="val 4021"/>
            </a:avLst>
          </a:prstGeom>
          <a:solidFill>
            <a:srgbClr val="71260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27" y="5584031"/>
            <a:ext cx="233158" cy="1865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5912" y="5520829"/>
            <a:ext cx="4987106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Средняя конверсия по всем каналам: </a:t>
            </a:r>
            <a:r>
              <a:rPr lang="en-US" sz="14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9.2%</a:t>
            </a:r>
            <a:endParaRPr lang="en-US" sz="14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086" y="2227263"/>
          <a:ext cx="4911701" cy="353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0CA54E1-11CB-69F7-B972-611B9B08411E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Широкоэкранный</PresentationFormat>
  <Paragraphs>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2026-06-28T15:12:29Z</dcterms:created>
  <dcterms:modified xsi:type="dcterms:W3CDTF">2026-06-28T15:12:45Z</dcterms:modified>
</cp:coreProperties>
</file>