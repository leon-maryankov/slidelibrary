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2" y="5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/>
            </a:pPr>
            <a:r>
              <a:rPr lang="ru-RU" dirty="0">
                <a:solidFill>
                  <a:srgbClr val="FFD9BE"/>
                </a:solidFill>
              </a:rPr>
              <a:t>Бюджет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dPt>
            <c:idx val="0"/>
            <c:bubble3D val="0"/>
            <c:spPr>
              <a:solidFill>
                <a:srgbClr val="EF9C8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235-4884-ADD8-0C21FD53E9AC}"/>
              </c:ext>
            </c:extLst>
          </c:dPt>
          <c:dPt>
            <c:idx val="1"/>
            <c:bubble3D val="0"/>
            <c:spPr>
              <a:solidFill>
                <a:srgbClr val="5A9E9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235-4884-ADD8-0C21FD53E9AC}"/>
              </c:ext>
            </c:extLst>
          </c:dPt>
          <c:dPt>
            <c:idx val="2"/>
            <c:bubble3D val="0"/>
            <c:spPr>
              <a:solidFill>
                <a:srgbClr val="F9EEE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235-4884-ADD8-0C21FD53E9AC}"/>
              </c:ext>
            </c:extLst>
          </c:dPt>
          <c:dPt>
            <c:idx val="3"/>
            <c:bubble3D val="0"/>
            <c:spPr>
              <a:solidFill>
                <a:srgbClr val="D0706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235-4884-ADD8-0C21FD53E9AC}"/>
              </c:ext>
            </c:extLst>
          </c:dPt>
          <c:dPt>
            <c:idx val="4"/>
            <c:bubble3D val="0"/>
            <c:spPr>
              <a:solidFill>
                <a:srgbClr val="8AAF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235-4884-ADD8-0C21FD53E9AC}"/>
              </c:ext>
            </c:extLst>
          </c:dPt>
          <c:cat>
            <c:strRef>
              <c:f>Sheet1!$A$2:$A$6</c:f>
              <c:strCache>
                <c:ptCount val="5"/>
                <c:pt idx="0">
                  <c:v>Контекст</c:v>
                </c:pt>
                <c:pt idx="1">
                  <c:v>SMM</c:v>
                </c:pt>
                <c:pt idx="2">
                  <c:v>SEO</c:v>
                </c:pt>
                <c:pt idx="3">
                  <c:v>Email</c:v>
                </c:pt>
                <c:pt idx="4">
                  <c:v>Офлайн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235-4884-ADD8-0C21FD53E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</c:spPr>
    </c:plotArea>
    <c:legend>
      <c:legendPos val="r"/>
      <c:overlay val="0"/>
      <c:spPr>
        <a:noFill/>
        <a:ln>
          <a:noFill/>
        </a:ln>
      </c:spPr>
      <c:txPr>
        <a:bodyPr/>
        <a:lstStyle/>
        <a:p>
          <a:pPr>
            <a:defRPr sz="900" b="0">
              <a:solidFill>
                <a:srgbClr val="FFD9BE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EF73F-5D7A-46C0-B6AF-2D890875A286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72033-FBC5-4072-BA06-847BCDC550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96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861E4A-A4BE-EB87-C305-C48A4B50A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7B69159-6CF4-2157-F4D2-4B0D10690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32B223-10EF-8270-1EED-21909B99A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F81B66-5245-3AF8-7956-C6479B70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9319E6-C3F6-8C65-E85D-C2FF19FEA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3163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E8078-6283-2A70-EAC0-204ABFF59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F6F430-F0BA-FBCD-3FC6-CF44831B2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D1BB8F-59A7-AFB7-6C0C-16D5D56A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F767C8-16C7-024F-092F-F9B8B06EB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64ED43-F523-34E3-DAAE-6ADDFBE2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925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02929B-B21F-EFFD-DC4E-DE7A0E5B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77E2C9-061E-F819-894A-0644FE04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E31424-1DBD-5704-ECBE-7329C96F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DBB688-CB9E-BA96-AD38-30459931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EBCF03-8536-1DA6-9D85-AD4F65345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33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19F87-9601-3260-657C-CBD93128C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02BF39-4E94-8F26-7318-57A877E07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1B1276-F8E5-E2B7-4612-1E3D2FB1B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C707709-8EF6-6D46-F3F5-0C70FE4A0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90591A-D751-D00C-4294-4BECD9FD4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FC6050-E135-B01C-DC4D-48AB4684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30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78C51A-FB05-E38F-15BA-78CE42A24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13B5F7-CB55-4B74-CA60-E5AFAA964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CAF0D1-A82A-3767-6C63-1D79460DD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8B3F40-B6E2-97AF-6244-6C4B6A691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FC0D9C-2CC8-AFAE-48CA-5644707AA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43F3ACB-CEF6-1EED-2BF4-9E952660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42EDA45-0839-07F3-C4FD-FF304E5C5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A1AD18-73DA-A9CA-56B0-70C3928B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224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957CF-9F8D-4222-7798-9ADD5FB8D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43FCD55-CDE7-4963-982E-A5532CB9F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7C79024-5C51-782F-1FC8-0909746E4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4B28CF6-2D5C-CD58-5554-C3CBFAB0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51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9D82742-86EB-BF75-1B28-282FC2BB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CB63B01-5DCC-9790-7C5F-3A8D6D3CF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6CE60A-4540-3F8A-2851-E0396B17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69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7E098-2339-B566-F9E5-DE123EAD1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7652FB-E745-E36C-805B-5A6C5B551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FC98AC4-822E-C4FA-E3B8-8E235DCEE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806DB1-F192-12C6-50BE-8C2616262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BBF9FB-9937-426C-839A-2B49978B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A5CF2F-B823-2BD1-7A69-DB54E6D4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735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5F93E9-9A95-2873-A150-F5A0FBBC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0A7AB83-126D-A079-7DAD-0F3AD1DB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9745690-2AD3-8BEF-0FE5-7A4CBAB21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A39B393-E11A-57AD-26D5-8B0523868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DD6990-A632-27BA-E5A2-1581EEE3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EA0278A-02A4-2B27-BFFE-DD96BE3A5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909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990EC-E46F-C10E-23EA-8493882E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184896-4BC6-9C61-5E8D-7DC3C18FC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FDB695D-1B4A-5A20-003D-FB4316F97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FF5851-FC4B-A164-6CFF-5BA3D747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859256-829A-1177-5D8D-26DBFE95D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23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EED865F-B9EB-365F-CB29-4C45AADDCD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753203-2F1E-4050-196E-9743F3B14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BE00A9-2A51-9608-7CA8-489B10FA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2A44C1-E3A1-502A-0CE2-1C45F1BD1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9A2119-6BB0-E69E-852C-DB82300B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804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3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DAC174-F1CE-5C83-F44C-01E0068F9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0D1C44-1F65-41D1-137B-84BB3DB7A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684130E-36DF-1120-696C-8888534DD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4AF6A-FBF7-46B3-94B1-1E6B7F5C9FFF}" type="datetimeFigureOut">
              <a:rPr lang="ru-RU" smtClean="0"/>
              <a:t>28.06.2026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55719CE-3EB1-AA60-1B3C-307C6D01BC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67C054-1F98-38D8-90D5-7DDB87421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32915-21D3-409E-A4C2-6EACC47D2A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406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320525"/>
            <a:ext cx="6717735" cy="433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Структура маркетингового бюджета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281779" y="1370608"/>
            <a:ext cx="3429311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Распределение по каналам · 2024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81779" y="1695748"/>
            <a:ext cx="5218180" cy="614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Контекстная реклама и SMM занимают </a:t>
            </a: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60%</a:t>
            </a: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бюджета, однако демонстрируют не самый высокий ROAS. Email при доле всего 12% обеспечивает максимальную отдачу.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445695"/>
            <a:ext cx="2617325" cy="8189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40570" y="4611985"/>
            <a:ext cx="17325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Контекст — 35%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940570" y="4893667"/>
            <a:ext cx="2208554" cy="2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Основной канал привлечения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4053" y="4445695"/>
            <a:ext cx="2617424" cy="818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66537" y="4611985"/>
            <a:ext cx="17325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SMM — 25%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666537" y="4893667"/>
            <a:ext cx="2208653" cy="2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Охват и узнаваемость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0119" y="4445695"/>
            <a:ext cx="2617424" cy="818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92603" y="4611985"/>
            <a:ext cx="17325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SEO — 18%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392603" y="4893667"/>
            <a:ext cx="2208653" cy="2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Органический рост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6185" y="4445695"/>
            <a:ext cx="2617424" cy="81895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118670" y="4611985"/>
            <a:ext cx="17325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Email — 12%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9118670" y="4893667"/>
            <a:ext cx="2208653" cy="2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Удержание клиентов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373291"/>
            <a:ext cx="2617325" cy="81895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40570" y="5539581"/>
            <a:ext cx="1732514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Офлайн — 10%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940570" y="5821263"/>
            <a:ext cx="2208554" cy="204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Ивенты и активации</a:t>
            </a:r>
            <a:endParaRPr lang="en-US" sz="1150" dirty="0"/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698086" y="1384201"/>
          <a:ext cx="3913586" cy="28170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9D74ED-32E7-2C21-D3FE-A99015A26D94}"/>
              </a:ext>
            </a:extLst>
          </p:cNvPr>
          <p:cNvSpPr/>
          <p:nvPr/>
        </p:nvSpPr>
        <p:spPr>
          <a:xfrm>
            <a:off x="11084767" y="6512767"/>
            <a:ext cx="1107233" cy="345233"/>
          </a:xfrm>
          <a:prstGeom prst="rect">
            <a:avLst/>
          </a:prstGeom>
          <a:solidFill>
            <a:srgbClr val="123332"/>
          </a:solidFill>
          <a:ln>
            <a:solidFill>
              <a:srgbClr val="1233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Широкоэкранный</PresentationFormat>
  <Paragraphs>15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Quattrocento</vt:lpstr>
      <vt:lpstr>Quattrocento Bold</vt:lpstr>
      <vt:lpstr>Тема Office</vt:lpstr>
      <vt:lpstr>Презентация PowerPoint</vt:lpstr>
    </vt:vector>
  </TitlesOfParts>
  <Company>WolfishLair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Леонид Марьянков</dc:creator>
  <cp:lastModifiedBy>Леонид Марьянков</cp:lastModifiedBy>
  <cp:revision>1</cp:revision>
  <dcterms:created xsi:type="dcterms:W3CDTF">2026-06-28T15:11:44Z</dcterms:created>
  <dcterms:modified xsi:type="dcterms:W3CDTF">2026-06-28T15:12:00Z</dcterms:modified>
</cp:coreProperties>
</file>