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E906D-6A16-4F4B-B5F3-540C93BE2685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23872-409A-43BB-96D9-4EE02C1031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219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B504BF-A6CC-0182-16B7-69CDFD6D6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8174B5-9882-121F-5D35-90D686079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9121C3-AEA1-847C-A243-F8CEB2FD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C2C8-7AF7-4805-8535-F8138E49EA5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59948F-7A84-459D-2979-5835C2299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5966EE-BE29-465E-867B-FADAB03F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C08B-C6C4-47BC-9E50-E59A429389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46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4F27E-8ABF-4409-5002-FBDD87E51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F0F769-BF24-487A-0E53-4EDD393A9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0A4DA3-FBBE-6979-5522-B54678EA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C2C8-7AF7-4805-8535-F8138E49EA5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3FAEB8-3D6F-75B4-1444-511ACD40B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CF008D-46B2-7D78-53A8-824B6844B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C08B-C6C4-47BC-9E50-E59A429389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722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D7546-C07F-C4D2-0094-4148F9E5A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0A5CCD-3CAE-3B6A-57C1-C2F114874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D02040-CFC0-D3CA-E484-19FD1D65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C2C8-7AF7-4805-8535-F8138E49EA5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0FDCE8-487E-46EE-441A-1DBF32BE2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54F2FA-90E3-6BDD-42E8-FDDB451E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C08B-C6C4-47BC-9E50-E59A429389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02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51C2D5-CAD7-2E8C-6378-FF9DA83D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5E80DE-C427-0E0C-5F3D-F99D5E8283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2B6628-D334-A5B1-216D-052355ED9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EE98B3-FE27-0BE1-F6EC-091674145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C2C8-7AF7-4805-8535-F8138E49EA5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D576E8-F0F6-9F03-0F3C-14870EFDC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5B33EB-8DE4-2E98-6854-60D46786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C08B-C6C4-47BC-9E50-E59A429389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939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FD5271-CA76-92E2-9AD7-A58C6EF09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65EFB5-1C18-4DCF-E344-3F8FC7C74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EE266F-83CE-DD45-89F3-1BC9B0C90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ED79277-4D7B-3BBA-C0C2-718AF0E12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D7E4C0A-0FC9-7B2E-4119-8A94A76CC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104A463-7F64-27D2-E7E6-33D393612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C2C8-7AF7-4805-8535-F8138E49EA5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0A3BB7-0F43-353B-9EBF-3093AF85D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7B41581-28F4-0E24-3786-C5DA10D0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C08B-C6C4-47BC-9E50-E59A429389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19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FD57BF-D457-B3D2-BC4E-C98B9683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1E2464-A9F9-06A8-C8C6-3AC2E322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C2C8-7AF7-4805-8535-F8138E49EA5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4C2D6F6-B49C-D825-A745-F4A6E41E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523F34-84CE-B214-8CFB-3E44325B6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C08B-C6C4-47BC-9E50-E59A429389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349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21700F1-9823-5253-7677-F7A2C07F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C2C8-7AF7-4805-8535-F8138E49EA5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91A4C92-1043-4DE4-E074-A3E981E08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452030-33B9-94DD-9390-E6CEB3352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C08B-C6C4-47BC-9E50-E59A429389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567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EB0CE-1ACF-A449-91E0-63CC8AD5B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68ED11-4B9A-CA29-C706-E954E57B1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24F12C-11B1-D128-5CD2-AF853344E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0BE1D9-AE8C-5800-C2B2-07E3D581A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C2C8-7AF7-4805-8535-F8138E49EA5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4B132D-0A49-420B-E5C9-8002095BD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321A2B-EB42-2774-AEAC-4E92EA7E7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C08B-C6C4-47BC-9E50-E59A429389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35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A0EDF0-91A5-FA49-94DA-3CDFE8D87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147D53C-BF2F-3D33-1C66-D7852952E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7B9715-61B7-297B-AC31-7FDB886F7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BC0641-30C8-DDF5-183F-EEB8BBCD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C2C8-7AF7-4805-8535-F8138E49EA5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EDE10C-355D-84A0-595C-354A30963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EE9A1C-FFA6-863B-6DCE-7982E0CC2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C08B-C6C4-47BC-9E50-E59A429389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788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39D805-6E9B-DD21-B1BA-87E226FE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CDEBDE-3D14-85FF-E1DE-A18B357E1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105F9E-D3EC-A7AA-FC71-90A650FB1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C2C8-7AF7-4805-8535-F8138E49EA5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C13402-0EC8-14B5-D244-C7E8CA931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BA16D5-7ED1-0374-102C-7460DDC76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C08B-C6C4-47BC-9E50-E59A429389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52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CDB19F-9FFA-ED90-EC34-C67AEAC96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5A03E3A-59E0-A975-3731-AC48B6662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FD51EC-B640-454A-4B86-E089110F3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C2C8-7AF7-4805-8535-F8138E49EA5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ACB3CA-F53B-EDF1-DAED-7DFFFD320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9F421C-B7DD-E019-38C1-5ECB2AB0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9C08B-C6C4-47BC-9E50-E59A429389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886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57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CE81A-D02E-CDA7-3316-560E72A65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30E68C-DD21-70E3-7210-726BE675E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96ABB8-2098-A6E9-48C6-CA79A167A5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DC2C8-7AF7-4805-8535-F8138E49EA52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C8CC06-9695-CAF2-5325-42706A441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E11E55-D5F9-57B6-64E3-EC2470813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9C08B-C6C4-47BC-9E50-E59A429389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47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9579"/>
            <a:ext cx="5380101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Региональный анализ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01874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Выручка и динамика по регионам · 2024 vs 2023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973858"/>
            <a:ext cx="10868745" cy="3532485"/>
          </a:xfrm>
          <a:prstGeom prst="roundRect">
            <a:avLst>
              <a:gd name="adj" fmla="val 762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406" y="2088852"/>
            <a:ext cx="329030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Регион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87095" y="2088852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Выручка 2024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41159" y="2088852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Выручка 2023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95224" y="2088852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Динамика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49288" y="2088852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Доля рынка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7406" y="2592586"/>
            <a:ext cx="329030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Москва и МО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87095" y="2592586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890 млн 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41159" y="2592586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740 млн 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95224" y="2592586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BC8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+20%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749288" y="2592586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7406" y="3096320"/>
            <a:ext cx="329030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Санкт-Петербург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87095" y="3096320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420 млн 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41159" y="3096320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370 млн 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95224" y="3096320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BC8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+14%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49288" y="3096320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7406" y="3600053"/>
            <a:ext cx="329030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Поволжье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87095" y="3600053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310 млн 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41159" y="3600053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280 млн ₽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95224" y="3600053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BC8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+11%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49288" y="3600053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7406" y="4103787"/>
            <a:ext cx="329030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Урал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87095" y="4103787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270 млн ₽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41159" y="4103787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235 млн ₽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95224" y="4103787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BC8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+15%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49288" y="4103787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7406" y="4607520"/>
            <a:ext cx="329030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Сибирь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87095" y="4607520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215 млн ₽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841159" y="4607520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 млн ₽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95224" y="4607520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BC8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+8%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49288" y="4607520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7406" y="5111254"/>
            <a:ext cx="329030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Другие регионы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887095" y="5111254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295 млн ₽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41159" y="5111254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275 млн ₽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95224" y="5111254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BC8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+7%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749288" y="5111254"/>
            <a:ext cx="22046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1475" y="5698232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Москва сохраняет лидерство (37% выручки), Урал показывает лучший темп роста среди регионов-миллионников (+15%). Сибирь и «Другие регионы» — зоны потенциального роста.</a:t>
            </a:r>
            <a:endParaRPr lang="en-US" sz="1400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E65355D1-B897-8026-EEC3-10F202BDC8E2}"/>
              </a:ext>
            </a:extLst>
          </p:cNvPr>
          <p:cNvSpPr/>
          <p:nvPr/>
        </p:nvSpPr>
        <p:spPr>
          <a:xfrm>
            <a:off x="11038114" y="6503438"/>
            <a:ext cx="1153886" cy="354562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Широкоэкранный</PresentationFormat>
  <Paragraphs>39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IBM Plex Sans Medium</vt:lpstr>
      <vt:lpstr>Roboto</vt:lpstr>
      <vt:lpstr>Roboto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2026-06-28T12:24:46Z</dcterms:created>
  <dcterms:modified xsi:type="dcterms:W3CDTF">2026-06-28T12:25:02Z</dcterms:modified>
</cp:coreProperties>
</file>