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64E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</c:v>
                </c:pt>
                <c:pt idx="1">
                  <c:v>590</c:v>
                </c:pt>
                <c:pt idx="2">
                  <c:v>630</c:v>
                </c:pt>
                <c:pt idx="3">
                  <c:v>660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Расходы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64E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415</c:v>
                </c:pt>
                <c:pt idx="1">
                  <c:v>468</c:v>
                </c:pt>
                <c:pt idx="2">
                  <c:v>500</c:v>
                </c:pt>
                <c:pt idx="3">
                  <c:v>520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64E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105</c:v>
                </c:pt>
                <c:pt idx="1">
                  <c:v>122</c:v>
                </c:pt>
                <c:pt idx="2">
                  <c:v>130</c:v>
                </c:pt>
                <c:pt idx="3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64E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Операционный</c:v>
                </c:pt>
              </c:strCache>
            </c:strRef>
          </c:tx>
          <c:spPr>
            <a:solidFill>
              <a:srgbClr val="059669"/>
            </a:solidFill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42</c:v>
                </c:pt>
                <c:pt idx="2">
                  <c:v>45</c:v>
                </c:pt>
                <c:pt idx="3">
                  <c:v>40</c:v>
                </c:pt>
                <c:pt idx="4">
                  <c:v>48</c:v>
                </c:pt>
                <c:pt idx="5">
                  <c:v>52</c:v>
                </c:pt>
                <c:pt idx="6">
                  <c:v>50</c:v>
                </c:pt>
                <c:pt idx="7">
                  <c:v>55</c:v>
                </c:pt>
                <c:pt idx="8">
                  <c:v>58</c:v>
                </c:pt>
                <c:pt idx="9">
                  <c:v>62</c:v>
                </c:pt>
                <c:pt idx="10">
                  <c:v>65</c:v>
                </c:pt>
                <c:pt idx="11">
                  <c:v>70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Инвестиц.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-15</c:v>
                </c:pt>
                <c:pt idx="1">
                  <c:v>-18</c:v>
                </c:pt>
                <c:pt idx="2">
                  <c:v>-12</c:v>
                </c:pt>
                <c:pt idx="3">
                  <c:v>-20</c:v>
                </c:pt>
                <c:pt idx="4">
                  <c:v>-15</c:v>
                </c:pt>
                <c:pt idx="5">
                  <c:v>-22</c:v>
                </c:pt>
                <c:pt idx="6">
                  <c:v>-18</c:v>
                </c:pt>
                <c:pt idx="7">
                  <c:v>-15</c:v>
                </c:pt>
                <c:pt idx="8">
                  <c:v>-20</c:v>
                </c:pt>
                <c:pt idx="9">
                  <c:v>-18</c:v>
                </c:pt>
                <c:pt idx="10">
                  <c:v>-12</c:v>
                </c:pt>
                <c:pt idx="11">
                  <c:v>-16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Финансовый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</c:v>
                </c:pt>
                <c:pt idx="1">
                  <c:v>3</c:v>
                </c:pt>
                <c:pt idx="2">
                  <c:v>8</c:v>
                </c:pt>
                <c:pt idx="3">
                  <c:v>5</c:v>
                </c:pt>
                <c:pt idx="4">
                  <c:v>10</c:v>
                </c:pt>
                <c:pt idx="5">
                  <c:v>6</c:v>
                </c:pt>
                <c:pt idx="6">
                  <c:v>8</c:v>
                </c:pt>
                <c:pt idx="7">
                  <c:v>12</c:v>
                </c:pt>
                <c:pt idx="8">
                  <c:v>7</c:v>
                </c:pt>
                <c:pt idx="9">
                  <c:v>9</c:v>
                </c:pt>
                <c:pt idx="10">
                  <c:v>14</c:v>
                </c:pt>
                <c:pt idx="11">
                  <c:v>10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DF4"/>
        </a:solidFill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0FDF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Затраты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064E3B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ФОТ</c:v>
                </c:pt>
                <c:pt idx="1">
                  <c:v>Маркетинг</c:v>
                </c:pt>
                <c:pt idx="2">
                  <c:v>Операции</c:v>
                </c:pt>
                <c:pt idx="3">
                  <c:v>ИТ</c:v>
                </c:pt>
                <c:pt idx="4">
                  <c:v>Прочее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Валовая маржа, %</c:v>
                </c:pt>
              </c:strCache>
            </c:strRef>
          </c:tx>
          <c:spPr>
            <a:solidFill>
              <a:srgbClr val="059669"/>
            </a:solidFill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Q1'22</c:v>
                  </c:pt>
                  <c:pt idx="1">
                    <c:v>Q2'22</c:v>
                  </c:pt>
                  <c:pt idx="2">
                    <c:v>Q3'22</c:v>
                  </c:pt>
                  <c:pt idx="3">
                    <c:v>Q4'22</c:v>
                  </c:pt>
                  <c:pt idx="4">
                    <c:v>Q1'23</c:v>
                  </c:pt>
                  <c:pt idx="5">
                    <c:v>Q2'23</c:v>
                  </c:pt>
                  <c:pt idx="6">
                    <c:v>Q3'23</c:v>
                  </c:pt>
                  <c:pt idx="7">
                    <c:v>Q4'23</c:v>
                  </c:pt>
                  <c:pt idx="8">
                    <c:v>Q1'24</c:v>
                  </c:pt>
                  <c:pt idx="9">
                    <c:v>Q2'24</c:v>
                  </c:pt>
                  <c:pt idx="10">
                    <c:v>Q3'24</c:v>
                  </c:pt>
                  <c:pt idx="11">
                    <c:v>Q4'24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40</c:v>
                </c:pt>
                <c:pt idx="2">
                  <c:v>41</c:v>
                </c:pt>
                <c:pt idx="3">
                  <c:v>39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43</c:v>
                </c:pt>
                <c:pt idx="8">
                  <c:v>45</c:v>
                </c:pt>
                <c:pt idx="9">
                  <c:v>46</c:v>
                </c:pt>
                <c:pt idx="10">
                  <c:v>47</c:v>
                </c:pt>
                <c:pt idx="11">
                  <c:v>46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Чистая прибыль, %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Q1'22</c:v>
                  </c:pt>
                  <c:pt idx="1">
                    <c:v>Q2'22</c:v>
                  </c:pt>
                  <c:pt idx="2">
                    <c:v>Q3'22</c:v>
                  </c:pt>
                  <c:pt idx="3">
                    <c:v>Q4'22</c:v>
                  </c:pt>
                  <c:pt idx="4">
                    <c:v>Q1'23</c:v>
                  </c:pt>
                  <c:pt idx="5">
                    <c:v>Q2'23</c:v>
                  </c:pt>
                  <c:pt idx="6">
                    <c:v>Q3'23</c:v>
                  </c:pt>
                  <c:pt idx="7">
                    <c:v>Q4'23</c:v>
                  </c:pt>
                  <c:pt idx="8">
                    <c:v>Q1'24</c:v>
                  </c:pt>
                  <c:pt idx="9">
                    <c:v>Q2'24</c:v>
                  </c:pt>
                  <c:pt idx="10">
                    <c:v>Q3'24</c:v>
                  </c:pt>
                  <c:pt idx="11">
                    <c:v>Q4'24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</c:v>
                </c:pt>
                <c:pt idx="1">
                  <c:v>15</c:v>
                </c:pt>
                <c:pt idx="2">
                  <c:v>16</c:v>
                </c:pt>
                <c:pt idx="3">
                  <c:v>14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17</c:v>
                </c:pt>
                <c:pt idx="8">
                  <c:v>19</c:v>
                </c:pt>
                <c:pt idx="9">
                  <c:v>20</c:v>
                </c:pt>
                <c:pt idx="10">
                  <c:v>21</c:v>
                </c:pt>
                <c:pt idx="11">
                  <c:v>21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DF4"/>
        </a:solidFill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0FDF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64E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ФОТ</c:v>
                  </c:pt>
                  <c:pt idx="1">
                    <c:v>Маркетинг</c:v>
                  </c:pt>
                  <c:pt idx="2">
                    <c:v>ИТ</c:v>
                  </c:pt>
                  <c:pt idx="3">
                    <c:v>Операции</c:v>
                  </c:pt>
                  <c:pt idx="4">
                    <c:v>Прочее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963</c:v>
                </c:pt>
                <c:pt idx="1">
                  <c:v>530</c:v>
                </c:pt>
                <c:pt idx="2">
                  <c:v>289</c:v>
                </c:pt>
                <c:pt idx="3">
                  <c:v>434</c:v>
                </c:pt>
                <c:pt idx="4">
                  <c:v>193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64E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ФОТ</c:v>
                  </c:pt>
                  <c:pt idx="1">
                    <c:v>Маркетинг</c:v>
                  </c:pt>
                  <c:pt idx="2">
                    <c:v>ИТ</c:v>
                  </c:pt>
                  <c:pt idx="3">
                    <c:v>Операции</c:v>
                  </c:pt>
                  <c:pt idx="4">
                    <c:v>Прочее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920</c:v>
                </c:pt>
                <c:pt idx="1">
                  <c:v>560</c:v>
                </c:pt>
                <c:pt idx="2">
                  <c:v>300</c:v>
                </c:pt>
                <c:pt idx="3">
                  <c:v>420</c:v>
                </c:pt>
                <c:pt idx="4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64E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64E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Расходы, млн ₽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Прочие</c:v>
                  </c:pt>
                  <c:pt idx="1">
                    <c:v>Логистика</c:v>
                  </c:pt>
                  <c:pt idx="2">
                    <c:v>ИТ</c:v>
                  </c:pt>
                  <c:pt idx="3">
                    <c:v>Аренда</c:v>
                  </c:pt>
                  <c:pt idx="4">
                    <c:v>Маркетинг</c:v>
                  </c:pt>
                  <c:pt idx="5">
                    <c:v>ФОТ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193</c:v>
                </c:pt>
                <c:pt idx="1">
                  <c:v>245</c:v>
                </c:pt>
                <c:pt idx="2">
                  <c:v>289</c:v>
                </c:pt>
                <c:pt idx="3">
                  <c:v>315</c:v>
                </c:pt>
                <c:pt idx="4">
                  <c:v>530</c:v>
                </c:pt>
                <c:pt idx="5">
                  <c:v>963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64E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 финансового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Финансовый KPI-дашборд: выручка, EBITDA, рентабельность, долг.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P&amp;L: выручка, расходы и EBITDA по кварталам.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 flow по трём типам потоков за 12 месяцев.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Структура затрат по основным статьям расходов.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Тренд валовой и чистой рентабельности за 3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Исполнение бюджета: факт vs план по статьям расходов.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дебиторской задолженности с оценкой риска.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Топ-6 статей расходов по абсолютному значению.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Итоговый слайд финансового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059669">
              <a:alpha val="35000"/>
            </a:srgbClr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СЛАЙДОВ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Финансовая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отчётность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28600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· Cash Flow · EBITDA · Бюджет · Рентабельность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/ Годовой отчёт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Финансовые показатели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год · ключевые метрики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 2,4 млрд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YoY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0048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 480 млн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24328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4328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 YoY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45736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00016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Рентабельность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0016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 п.п.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84264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1424" y="132588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 −85 млн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75704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Чист. долг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75704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−35% YoY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 о прибылях и убытках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₽ · доходы, расходы и EBITDA · 2024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Денежный поток (Cash Flow)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₽ · операционный, инвестиционный, финансовый · 2024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затрат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статьям расходов · 2024 год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4754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0058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113385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060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 и персонал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307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94960" y="1755648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883664"/>
            <a:ext cx="347472" cy="347472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1810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и продажи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3504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2505456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26334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2560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Операционные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35040" y="28072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94960" y="3255264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77840" y="338328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ИТ-инфраструктура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35040" y="3557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94960" y="4005072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77840" y="4133088"/>
            <a:ext cx="347472" cy="34747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4059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Прочие расходы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35040" y="4306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Динамика рентабельности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от выручки · валовая и чистая рентабельность · 2022–2024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Бюджет vs Факт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исполнение бюджета по статьям · 2024 год · млн ₽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Дебиторская задолженность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и сроки погашения · на 31.12.2024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56616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371600"/>
                <a:gridCol w="1554480"/>
                <a:gridCol w="13716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Контрагент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Сумма,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 (дн.)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Просрочка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ООО «Альфа»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млн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ЗАО «Бета»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млн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дн.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ИП Петров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млн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дн.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АО «Гамма»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млн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ООО «Дельта»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млн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дн.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Критич.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Топ статей расходов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₽ · 2024 год · ТОП-6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выводы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итоги 2024 · приоритеты на 2025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07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25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EBITDA +22%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EBITDA выросла до 20%. Основной вклад — снижение операционных затрат и рост выручки онлайн-канала.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0912" y="1207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23560" y="1225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 превысил бюджет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10912" y="169164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Перерасход +4.7% из-за найма в Q3–Q4. В 2025 заморозить найм вне ключевых ролей до Q2.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81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099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Просрочка: риск ₽27 млн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56616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контрагента с просрочкой свыше 30 дней. Инициировать переговоры и сформировать резерв.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30815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23560" y="3099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2025: маржа 23%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0912" y="356616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Сократить долю ФОТ с 40% до 37%, направить экономию в автоматизацию и ИТ-инфраструктуру.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Библиотека слайдов — Финансы</dc:title>
  <dc:subject>PptxGenJS Presentation</dc:subject>
  <dc:creator>PptxGenJS</dc:creator>
  <cp:lastModifiedBy>PptxGenJS</cp:lastModifiedBy>
  <cp:revision>1</cp:revision>
  <dcterms:created xsi:type="dcterms:W3CDTF">2026-06-27T14:01:45Z</dcterms:created>
  <dcterms:modified xsi:type="dcterms:W3CDTF">2026-06-27T14:01:45Z</dcterms:modified>
</cp:coreProperties>
</file>