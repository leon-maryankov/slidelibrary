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title>
      <c:tx>
        <c:rich>
          <a:bodyPr/>
          <a:lstStyle/>
          <a:p>
            <a:pPr>
              <a:defRPr/>
            </a:pPr>
            <a:r>
              <a:rPr lang="ru-RU" dirty="0">
                <a:solidFill>
                  <a:srgbClr val="FFFFFF"/>
                </a:solidFill>
              </a:rPr>
              <a:t>Доля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dPt>
            <c:idx val="0"/>
            <c:bubble3D val="0"/>
            <c:spPr>
              <a:solidFill>
                <a:srgbClr val="8061F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2BE-4ED3-98F4-7A2329C833E1}"/>
              </c:ext>
            </c:extLst>
          </c:dPt>
          <c:dPt>
            <c:idx val="1"/>
            <c:bubble3D val="0"/>
            <c:spPr>
              <a:solidFill>
                <a:srgbClr val="A889F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2BE-4ED3-98F4-7A2329C833E1}"/>
              </c:ext>
            </c:extLst>
          </c:dPt>
          <c:dPt>
            <c:idx val="2"/>
            <c:bubble3D val="0"/>
            <c:spPr>
              <a:solidFill>
                <a:srgbClr val="5040B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A2BE-4ED3-98F4-7A2329C833E1}"/>
              </c:ext>
            </c:extLst>
          </c:dPt>
          <c:dPt>
            <c:idx val="3"/>
            <c:bubble3D val="0"/>
            <c:spPr>
              <a:solidFill>
                <a:srgbClr val="C0A8F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A2BE-4ED3-98F4-7A2329C833E1}"/>
              </c:ext>
            </c:extLst>
          </c:dPt>
          <c:dPt>
            <c:idx val="4"/>
            <c:bubble3D val="0"/>
            <c:spPr>
              <a:solidFill>
                <a:srgbClr val="D9E1F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A2BE-4ED3-98F4-7A2329C833E1}"/>
              </c:ext>
            </c:extLst>
          </c:dPt>
          <c:cat>
            <c:strRef>
              <c:f>Sheet1!$A$2:$A$6</c:f>
              <c:strCache>
                <c:ptCount val="5"/>
                <c:pt idx="0">
                  <c:v>ФОТ</c:v>
                </c:pt>
                <c:pt idx="1">
                  <c:v>Маркетинг</c:v>
                </c:pt>
                <c:pt idx="2">
                  <c:v>Операционные</c:v>
                </c:pt>
                <c:pt idx="3">
                  <c:v>ИТ</c:v>
                </c:pt>
                <c:pt idx="4">
                  <c:v>Прочие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22</c:v>
                </c:pt>
                <c:pt idx="2">
                  <c:v>18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2BE-4ED3-98F4-7A2329C833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</c:spPr>
    </c:plotArea>
    <c:legend>
      <c:legendPos val="r"/>
      <c:legendEntry>
        <c:idx val="0"/>
        <c:txPr>
          <a:bodyPr/>
          <a:lstStyle/>
          <a:p>
            <a:pPr>
              <a:defRPr sz="1000" b="0">
                <a:solidFill>
                  <a:srgbClr val="D9E1FF"/>
                </a:solidFill>
                <a:latin typeface="Arial"/>
              </a:defRPr>
            </a:pPr>
            <a:endParaRPr lang="ru-RU"/>
          </a:p>
        </c:txPr>
      </c:legendEntry>
      <c:legendEntry>
        <c:idx val="1"/>
        <c:txPr>
          <a:bodyPr/>
          <a:lstStyle/>
          <a:p>
            <a:pPr>
              <a:defRPr sz="1000" b="0">
                <a:solidFill>
                  <a:srgbClr val="D9E1FF"/>
                </a:solidFill>
                <a:latin typeface="Arial"/>
              </a:defRPr>
            </a:pPr>
            <a:endParaRPr lang="ru-RU"/>
          </a:p>
        </c:txPr>
      </c:legendEntry>
      <c:legendEntry>
        <c:idx val="2"/>
        <c:txPr>
          <a:bodyPr/>
          <a:lstStyle/>
          <a:p>
            <a:pPr>
              <a:defRPr sz="1000" b="0">
                <a:solidFill>
                  <a:srgbClr val="D9E1FF"/>
                </a:solidFill>
                <a:latin typeface="Arial"/>
              </a:defRPr>
            </a:pPr>
            <a:endParaRPr lang="ru-RU"/>
          </a:p>
        </c:txPr>
      </c:legendEntry>
      <c:legendEntry>
        <c:idx val="3"/>
        <c:txPr>
          <a:bodyPr/>
          <a:lstStyle/>
          <a:p>
            <a:pPr>
              <a:defRPr sz="1000" b="0">
                <a:solidFill>
                  <a:srgbClr val="D9E1FF"/>
                </a:solidFill>
                <a:latin typeface="Arial"/>
              </a:defRPr>
            </a:pPr>
            <a:endParaRPr lang="ru-RU"/>
          </a:p>
        </c:txPr>
      </c:legendEntry>
      <c:legendEntry>
        <c:idx val="4"/>
        <c:txPr>
          <a:bodyPr/>
          <a:lstStyle/>
          <a:p>
            <a:pPr>
              <a:defRPr sz="1000" b="0">
                <a:solidFill>
                  <a:srgbClr val="D9E1FF"/>
                </a:solidFill>
                <a:latin typeface="Arial"/>
              </a:defRPr>
            </a:pPr>
            <a:endParaRPr lang="ru-RU"/>
          </a:p>
        </c:txPr>
      </c:legendEntry>
      <c:overlay val="0"/>
      <c:spPr>
        <a:noFill/>
        <a:ln>
          <a:noFill/>
        </a:ln>
      </c:spPr>
      <c:txPr>
        <a:bodyPr/>
        <a:lstStyle/>
        <a:p>
          <a:pPr>
            <a:defRPr sz="1000" b="0">
              <a:solidFill>
                <a:srgbClr val="D9E1FF"/>
              </a:solidFill>
              <a:latin typeface="Arial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8AE7A-09AC-4314-8091-A46E7613BBEB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587F7A-CC4D-407E-B71A-7334033560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591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4F6C4A-FB23-8F6C-BF49-6BE34C58B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8590390-430E-E359-246F-E58409993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41F784-AAF1-A491-2F6B-7D79B97E7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B91B-5117-4AAD-A522-ACB044EC887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B47B0A-2812-CF9B-B33C-77DF193CA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6BCB92-512E-DF54-78CD-8B985127D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F6598-1959-4591-84EF-6408ACFDB6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716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FA875E-AFEB-1346-CBD0-A69C19796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8F4195-63FC-2BB3-A30A-658C7ED40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D89827-E3A7-3DFD-1F08-1C2590A74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B91B-5117-4AAD-A522-ACB044EC887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995481-C283-1D9C-1FD3-E917BAB2A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CCD0C0-A168-E6C2-DE0D-39E8EAE03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F6598-1959-4591-84EF-6408ACFDB6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156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7DAAAD-4D54-6EA0-C3A5-C8C92B062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1008FF-CFEA-C082-A9BD-509D5C1DB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8E6620-179E-0112-A092-296559E0E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B91B-5117-4AAD-A522-ACB044EC887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C07A31-C7BA-BB89-C7D1-249FFE8D3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6C545E-401E-6884-2BE0-F8F1FF9B3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F6598-1959-4591-84EF-6408ACFDB6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2756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3C6F0-8002-F0CA-02B0-40F3100A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32ED28-5C03-AC66-1C3A-4692CC48D5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D7BFF79-57DD-8F69-704E-E2F31B0C5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C3BEFDE-A85E-C8D2-D3CF-D3C075D96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B91B-5117-4AAD-A522-ACB044EC887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BB1E59-D5C0-9636-344D-D1690CEF2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9EAB2DF-D34D-4DE8-7AE6-8748AA7C6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F6598-1959-4591-84EF-6408ACFDB6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1471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060C54-8A32-F6FA-60DB-8A2C390DA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7ACF22-F1FE-1BCD-395F-5F4FDA80F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54EE3C0-2EF4-2E1F-B63D-097C5B863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014B51A-7767-2FBD-6D4C-F83B227103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940F8B-B7EB-F379-0406-8DC8D8D2CB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8FD93F9-997A-8A2C-13B9-9DBB1180D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B91B-5117-4AAD-A522-ACB044EC887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24813B7-F75E-E8E9-423F-25C28FA1E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4BDCFB9-F404-C368-64B3-1DE8D6551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F6598-1959-4591-84EF-6408ACFDB6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9382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9FBD2-B101-306E-89A9-875CB585B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D602D94-4939-1F66-DD7D-7CFF239B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B91B-5117-4AAD-A522-ACB044EC887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2805303-BDE5-68AC-4AB3-8E5069E26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F963F0-62D9-4A8E-1347-1AFC5FFB7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F6598-1959-4591-84EF-6408ACFDB6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5685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94DB852-B670-E927-92B1-22899C168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B91B-5117-4AAD-A522-ACB044EC887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317B780-9A0E-B2D8-599C-25661C76B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82889B-0CC2-319B-7B7F-A90BA848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F6598-1959-4591-84EF-6408ACFDB6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230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FA82E2-4DC0-1742-D34F-335FE0672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FC33C5-0581-A265-9490-9C42A1B19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463782F-1796-8DFC-6579-5062560B3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2DB11D-3ADE-15A8-677D-1B7A25C22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B91B-5117-4AAD-A522-ACB044EC887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D0A696F-07F3-9755-D406-6FE68CFCB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373CE2-BBDC-AB62-E460-4E37C0599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F6598-1959-4591-84EF-6408ACFDB6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3961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BAE67F-84EA-4C26-58D1-F51871AA5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6E9F693-667B-9AA5-D4F1-5871F9FF8E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A4F3F8-78FE-31EF-6BC1-9B533FA8F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A2C9E4-9636-FB34-0EE7-A6932C572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B91B-5117-4AAD-A522-ACB044EC887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71339E-67BB-50E1-4B4F-7B7F69B80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8EBCBC-D54C-9B53-2501-2D0E31887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F6598-1959-4591-84EF-6408ACFDB6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5080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313212-D688-800D-095B-15D10355C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4A45AA2-860D-E546-BCD2-A3DE7D0AA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817CBF-BF63-B77B-78C3-43C2155C0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B91B-5117-4AAD-A522-ACB044EC887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C996AF-17EA-7D80-1926-3BF1501F8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88529F-8F3A-4842-530C-FBFD8BD60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F6598-1959-4591-84EF-6408ACFDB6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7818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EA1921D-1DB4-E7EB-4FA2-685C49BC43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24A98FA-7AE2-25E5-E535-3473AA865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360C4C-F595-FE04-1E66-11931D212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B91B-5117-4AAD-A522-ACB044EC887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D3B6CB-2204-7ED6-1B68-D78EB156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02F08B-B6AE-5B3B-F26C-CBDD9D7F3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F6598-1959-4591-84EF-6408ACFDB6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254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960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0AC0B9-9F9C-B074-0A7B-53051215C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071D2C-40C1-3619-E40E-918ED35DF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E6E8B6-8CE0-2FC0-0492-BCB6D8683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9B91B-5117-4AAD-A522-ACB044EC887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B7753B-F70F-D235-66C9-090A82EB4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E39EF8-2E3F-FCE1-79F9-B28271AFB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1F6598-1959-4591-84EF-6408ACFDB6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233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4895"/>
            <a:ext cx="5303209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Структура затрат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570534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Распределение расходов по статьям за 2024 год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345476" y="2313484"/>
            <a:ext cx="351602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Ключевые наблюдения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345476" y="2806204"/>
            <a:ext cx="5154484" cy="180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ФОТ — 40%</a:t>
            </a: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: крупнейшая статья, требует контроля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Маркетинг — 22%</a:t>
            </a: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: инвестиции в рост выручки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Операционные — 18%</a:t>
            </a: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: снижены по сравнению с 2023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ИТ — 12%</a:t>
            </a: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: приоритет на автоматизацию в 2025</a:t>
            </a:r>
            <a:endParaRPr lang="en-US" sz="1550" dirty="0"/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614188"/>
              </p:ext>
            </p:extLst>
          </p:nvPr>
        </p:nvGraphicFramePr>
        <p:xfrm>
          <a:off x="698086" y="2338388"/>
          <a:ext cx="5154484" cy="37102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8BCD188-DA5D-1185-2025-1860CC2F5611}"/>
              </a:ext>
            </a:extLst>
          </p:cNvPr>
          <p:cNvSpPr/>
          <p:nvPr/>
        </p:nvSpPr>
        <p:spPr>
          <a:xfrm>
            <a:off x="11066106" y="6512767"/>
            <a:ext cx="1125894" cy="345233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Широкоэкранный</PresentationFormat>
  <Paragraphs>9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Arial</vt:lpstr>
      <vt:lpstr>Arimo</vt:lpstr>
      <vt:lpstr>Arimo Bold</vt:lpstr>
      <vt:lpstr>Calibri</vt:lpstr>
      <vt:lpstr>Calibri Light</vt:lpstr>
      <vt:lpstr>Syne Bold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2026-06-28T15:31:36Z</dcterms:created>
  <dcterms:modified xsi:type="dcterms:W3CDTF">2026-06-28T15:32:03Z</dcterms:modified>
</cp:coreProperties>
</file>