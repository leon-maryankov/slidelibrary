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ru-RU" dirty="0">
                <a:solidFill>
                  <a:srgbClr val="FFFFFF"/>
                </a:solidFill>
              </a:rPr>
              <a:t>млн ₽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₽</c:v>
                </c:pt>
              </c:strCache>
            </c:strRef>
          </c:tx>
          <c:spPr>
            <a:solidFill>
              <a:srgbClr val="8061FF"/>
            </a:solidFill>
            <a:ln w="25400">
              <a:solidFill>
                <a:srgbClr val="8061FF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ФОТ</c:v>
                </c:pt>
                <c:pt idx="1">
                  <c:v>Маркетинг</c:v>
                </c:pt>
                <c:pt idx="2">
                  <c:v>Операционные</c:v>
                </c:pt>
                <c:pt idx="3">
                  <c:v>ИТ</c:v>
                </c:pt>
                <c:pt idx="4">
                  <c:v>Прочие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768</c:v>
                </c:pt>
                <c:pt idx="1">
                  <c:v>422</c:v>
                </c:pt>
                <c:pt idx="2">
                  <c:v>346</c:v>
                </c:pt>
                <c:pt idx="3">
                  <c:v>230</c:v>
                </c:pt>
                <c:pt idx="4">
                  <c:v>154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8061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BF7-453A-B33D-78DF8705F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>
              <a:solidFill>
                <a:srgbClr val="1A106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ABA96-40C4-4CA6-B3BB-57AB98A6AA5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DB90-CBF4-485C-ABE7-C4375BB2A0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7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45785-2DBB-7A85-FD0B-13221BE59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002720-E82F-72AE-0AE9-96568EFAB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1546E1-7EE2-0ED0-5621-9CFEFE10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8378F2-4983-3AAB-0D9B-2589B0FE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AFF6C6-B9BB-B7E4-05FD-21F9D175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0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8956C-097F-6F6C-0D02-8C14106E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9045A2-A083-275E-4845-FC23BDC71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5F501D-CD5B-A503-871B-E28562D8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76996-0867-3065-BEFA-B46C28A6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CD861F-2E23-548D-9743-1D31BDDA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15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A2FFF-B1AD-CC81-4931-66AA820D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AA5276-6D3B-42F5-083F-5ED8825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E117C0-2181-BBB1-BFCB-88B20536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A09F92-DFB4-4102-43F2-D1FECEDE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357B58-C37A-36E3-FD87-E61FFF8F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45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DC989-D989-CB83-18AB-DE7AA543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8B2C9C-26D4-D425-1239-BE62BDDF3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C75500-21F1-38C9-91AA-5DE8D8491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508E8E-A4B1-989C-C5C9-E7A9864A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1D4E90-C20C-96EA-C1CC-D44085FD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ED3584-9BC0-F83E-F529-ECF3B53B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40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CE1BD-5246-B9A4-29C2-82C1BA47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2E5885-CCDD-1875-CCC5-9FA02DE40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BE29C4-D732-0400-CBDA-5FD4D1D46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C2DA2D-9C2D-74BB-694D-C6D97D734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85C1C4-F39D-DE42-154A-08E795772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D58C32-575E-3A8E-69ED-6FA286B8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B9134E-84BA-CF71-6E43-C1CCA8E9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B5E560-5193-29FD-8DF6-E2E7F527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4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E053E-8A7D-6130-58DA-618A9FBE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99AA38-CE1E-27C8-47A9-141F6BB3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F3CE35-B031-0628-8786-9F30E1CC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BA1BB8-E606-FA48-0B64-305710C5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14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C6D67F-38A9-C3AD-88C7-37D6B561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17658A-73C7-C0F8-C92F-CF5D64DC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62696C-C2CB-C9DC-0836-FE1D327B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16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8F58C-664A-DDBD-496C-5D6FB6CF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D6BB43-1301-81C3-74DE-5AF26EDF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5A5FE2-2478-4509-3B4B-69DC8FC3B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C92A48-F7A1-7E83-590D-18FD4154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50A3E-7C2F-C0AF-20E5-EFDBE305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863947-A345-C772-0779-FB907110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12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9448D-558A-A1CB-C45C-0A55BFD8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5D7424-A3AC-F1E0-B59B-95F71B7DE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14AB38-B76B-A2EF-89E5-CC4767E8A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23A218-E641-0982-D226-C3A25AA9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FD6845-FB10-07D3-DF87-B3335398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696EFD-74AB-9BB3-91FA-F1F39ACB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71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E163F-B849-CDB9-E1FC-4BC6593B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53D520-1AAF-9612-93BC-2E61F5037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24DB7-B43D-8693-6FD8-D18C93FB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56DD6-8646-40CD-9DB0-A6C5B5BE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6BA71-F634-EE68-C221-E8E5EC19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7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7D1EC54-867E-8853-F190-5376F0266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D2254C-35CE-6210-766A-FE8810C96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FFC7B1-486A-41CC-E190-FE6F1D0F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D390B6-4D79-3082-1376-33CBD58C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49F96-2DE8-E026-783C-CB4485EE2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655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7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8CE54-3EF8-5E7D-10BE-1C460A75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8F3186-84FF-5913-B249-41931C069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EA9642-F66A-6FFE-5965-27CBA802E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7E0E0-7BF6-4440-A8B8-38A966CD4CA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B44197-BF8A-15DB-4A66-5D004B221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72FAE-F324-5923-C748-FEAFF2F1B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7E642-A232-4646-B53B-CA09B97DF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28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56904"/>
            <a:ext cx="4133846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Топ статей расходов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907065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Крупнейшие статьи затрат за 2024 год, млн ₽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6147693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ФОТ составляет 40% совокупных расходов. Совокупность трёх крупнейших статей (ФОТ, маркетинг, операционные) формирует 80% всех затрат компании.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8086" y="989044"/>
          <a:ext cx="9817514" cy="5038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2F91BE-C007-02A1-24B8-BC0D6B4027B1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Широкоэкранный</PresentationFormat>
  <Paragraphs>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2026-06-28T15:35:13Z</dcterms:created>
  <dcterms:modified xsi:type="dcterms:W3CDTF">2026-06-28T15:35:23Z</dcterms:modified>
</cp:coreProperties>
</file>