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8FAEFC-8E0D-4008-B294-2019A18F559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E1E25-1F73-4819-9E32-A3339E8B1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663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F25F71-5FE4-807F-B091-119156D3D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F97693-4CCC-E542-106E-5949362C66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5F6248-E3CF-1D6B-0974-021B0985E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3E953-BD2F-46C1-91B0-9A2093CF595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BF0A95-C336-17D5-B1E2-C8304A8B7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78B18F-C271-B57C-A3C9-783A97B55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5B5D-A1F1-4558-840A-9E2B0934B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3506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8C88F8-56A5-1D5E-72B6-D128D8EE4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164312-07A2-D103-C1A4-65A480638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3A8449-85D9-8541-7BBE-691DA5D5B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3E953-BD2F-46C1-91B0-9A2093CF595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A329C1-5476-BBD7-5785-0BD4125B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059DD8-C60D-6122-6652-2B158F668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5B5D-A1F1-4558-840A-9E2B0934B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0148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A8BB80-41FD-B0A2-B6D4-DCCE9D013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D3FC9E-B728-F74C-A410-52A54D75F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7D5901-6CFF-7F9C-B6EB-7A77AD83E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3E953-BD2F-46C1-91B0-9A2093CF595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4D37F6-40E3-6833-991C-4435A1BDF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F751D2-047E-0552-C25E-C43855820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5B5D-A1F1-4558-840A-9E2B0934B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595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139B29-2ADD-B42F-F8ED-F437BE7C1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198976-97FC-FEDF-43CA-4DEFB19015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081E92-8896-0740-8244-46A24EB19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47BAD5-6842-606C-2116-98955FA74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3E953-BD2F-46C1-91B0-9A2093CF595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EF05D6-B235-D397-BE66-F9E2166CA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C24E7A-E307-39BF-D556-27E76DF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5B5D-A1F1-4558-840A-9E2B0934B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764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DA405-FFA7-9DB1-F625-07DAFA739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EE80B0-1C7F-D383-37C1-F364BF59A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4EC3E1-4733-7A49-5175-854B0427C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34491FE-61D7-2D85-DBC3-B96A5D13E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D5B3E32-7752-3AF7-5286-B24DEB116D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A653001-04DC-31B2-A237-955B6834E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3E953-BD2F-46C1-91B0-9A2093CF595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04D67E9-4394-2100-0BEA-7E6D56AB4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E6D8733-46C2-B04B-2769-CDC782A82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5B5D-A1F1-4558-840A-9E2B0934B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150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21F10-CA6A-31F5-31E9-71D1652E3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C02DFC9-082D-5280-2072-0CCC987F6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3E953-BD2F-46C1-91B0-9A2093CF595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E8F1217-8723-758C-3A85-A70858D89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6F6794A-A85A-031C-0C6A-8D47AA3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5B5D-A1F1-4558-840A-9E2B0934B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453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37DA7B3-F01A-A78E-F23A-1FCD4452F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3E953-BD2F-46C1-91B0-9A2093CF595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38700AE-652D-2181-6AD4-5AA637164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8D3204-D174-89A0-76A7-217CBB98F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5B5D-A1F1-4558-840A-9E2B0934B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373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3A7FE6-CE77-3248-0C2F-EF26687E8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EBB09E-DF3D-EBAE-1167-97465D2A5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BD427B9-1E18-B152-D942-1E65CDB17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D329BE-9307-241D-2871-882CF3767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3E953-BD2F-46C1-91B0-9A2093CF595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C799B4-C0FC-D176-6912-A5737F34B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82B612-72E8-7255-BBEB-AE6CF1E0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5B5D-A1F1-4558-840A-9E2B0934B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866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57D360-B5E5-5E0A-99ED-0D356ABA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400BC3F-A345-E235-611C-777A56176F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F378ED0-FE68-FAF4-E07A-E570F1425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6D4A06-7117-DCC9-C4F1-7566C380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3E953-BD2F-46C1-91B0-9A2093CF595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C7C204-907E-BD4C-4274-50266C54F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96BB38-F874-A353-C6D1-52166C438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5B5D-A1F1-4558-840A-9E2B0934B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49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DEAE9E-C355-E5CA-4719-C40630E1F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FD8F08-765F-38F9-AB26-33A5CC14F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B188E7-8FCD-3509-4F66-C2A761D44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3E953-BD2F-46C1-91B0-9A2093CF595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105EE2-A84F-2042-1DBC-E19F717BF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430827-05DF-CDA2-A290-939C7D415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5B5D-A1F1-4558-840A-9E2B0934B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197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EBAA82-BA2F-3F24-6CEE-DE6218F5F9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2EDB8F1-F0DE-8152-3B4E-A8AD3ACD8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FE5245-4A36-4767-2DDA-1A7FD68EF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3E953-BD2F-46C1-91B0-9A2093CF595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DB050D-60E7-973D-051C-382B80E69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42101F-0DB2-DCFD-18C8-E61D9EB9A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5B5D-A1F1-4558-840A-9E2B0934B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3467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631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A27D6-E81F-DDC0-40B1-DC000364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0DA253-9D00-7A06-EC69-1F5395E71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8D65D4-459F-0103-B88E-A203B6897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3E953-BD2F-46C1-91B0-9A2093CF595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D61B94-DD69-01C4-EA24-9863E88A3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0EC6A1-6FB2-E200-4749-8E815209EC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C5B5D-A1F1-4558-840A-9E2B0934B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3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3668"/>
            <a:ext cx="8360657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Ключевые маркетинговые метрики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98086" y="1531045"/>
            <a:ext cx="11405108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Итоговые показатели за 2024 год в сравнении с предыдущим периодом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30242" y="2123877"/>
            <a:ext cx="5020938" cy="62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₽1 240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2226016" y="2978944"/>
            <a:ext cx="222939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CAC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98086" y="3365500"/>
            <a:ext cx="5285251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Стоимость привлечения клиента. Снижение на 12% vs 2023 — результат оптимизации каналов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40515" y="2123877"/>
            <a:ext cx="5020938" cy="62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₽8 400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7736289" y="2978944"/>
            <a:ext cx="222939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LTV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08359" y="3365500"/>
            <a:ext cx="5285251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Пожизненная ценность клиента. Рост на 21% — улучшение удержания и повторных покупок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30242" y="4411464"/>
            <a:ext cx="5020938" cy="62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6.8×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2226016" y="5266531"/>
            <a:ext cx="222939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ROAS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98086" y="5653088"/>
            <a:ext cx="5285251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Возврат на рекламные инвестиции. Прирост +0.9× — эффективность кампаний выросла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40515" y="4411464"/>
            <a:ext cx="5020938" cy="62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2.4М</a:t>
            </a:r>
            <a:endParaRPr lang="en-US" sz="4900" dirty="0"/>
          </a:p>
        </p:txBody>
      </p:sp>
      <p:sp>
        <p:nvSpPr>
          <p:cNvPr id="14" name="Text 12"/>
          <p:cNvSpPr/>
          <p:nvPr/>
        </p:nvSpPr>
        <p:spPr>
          <a:xfrm>
            <a:off x="7736289" y="5266531"/>
            <a:ext cx="222939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Охват/мес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208359" y="5653088"/>
            <a:ext cx="5285251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Ежемесячный охват аудитории. Рост +34% — масштабирование охватных каналов</a:t>
            </a:r>
            <a:endParaRPr lang="en-US" sz="14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59B16AF-0E52-0B17-4799-8DC259E4D0CB}"/>
              </a:ext>
            </a:extLst>
          </p:cNvPr>
          <p:cNvSpPr/>
          <p:nvPr/>
        </p:nvSpPr>
        <p:spPr>
          <a:xfrm>
            <a:off x="11084767" y="6512767"/>
            <a:ext cx="1107233" cy="345233"/>
          </a:xfrm>
          <a:prstGeom prst="rect">
            <a:avLst/>
          </a:prstGeom>
          <a:solidFill>
            <a:srgbClr val="123332"/>
          </a:solidFill>
          <a:ln>
            <a:solidFill>
              <a:srgbClr val="1233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Широкоэкранный</PresentationFormat>
  <Paragraphs>15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Quattrocento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2026-06-28T15:09:12Z</dcterms:created>
  <dcterms:modified xsi:type="dcterms:W3CDTF">2026-06-28T15:09:39Z</dcterms:modified>
</cp:coreProperties>
</file>