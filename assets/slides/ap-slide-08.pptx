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rgbClr val="F3F3F2"/>
                </a:solidFill>
              </a:rPr>
              <a:t>Выручка, млн ₽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Выручка, млн ₽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2">
                  <a:tint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6D-42B5-98C7-0ED823ED4DC7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2">
                  <a:tint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6D-42B5-98C7-0ED823ED4DC7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2">
                  <a:tint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56D-42B5-98C7-0ED823ED4DC7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2">
                  <a:shade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56D-42B5-98C7-0ED823ED4DC7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2">
                  <a:shade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56D-42B5-98C7-0ED823ED4DC7}"/>
              </c:ext>
            </c:extLst>
          </c:dPt>
          <c:dPt>
            <c:idx val="5"/>
            <c:invertIfNegative val="1"/>
            <c:bubble3D val="0"/>
            <c:spPr>
              <a:solidFill>
                <a:schemeClr val="accent2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56D-42B5-98C7-0ED823ED4DC7}"/>
              </c:ext>
            </c:extLst>
          </c:dPt>
          <c:cat>
            <c:strRef>
              <c:f>Sheet1!$A$2:$A$7</c:f>
              <c:strCache>
                <c:ptCount val="6"/>
                <c:pt idx="0">
                  <c:v>Корп. лицензия</c:v>
                </c:pt>
                <c:pt idx="1">
                  <c:v>Облачная платформа</c:v>
                </c:pt>
                <c:pt idx="2">
                  <c:v>Проф. тариф</c:v>
                </c:pt>
                <c:pt idx="3">
                  <c:v>Консалтинг</c:v>
                </c:pt>
                <c:pt idx="4">
                  <c:v>Поддержка</c:v>
                </c:pt>
                <c:pt idx="5">
                  <c:v>Базовый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528</c:v>
                </c:pt>
                <c:pt idx="1">
                  <c:v>384</c:v>
                </c:pt>
                <c:pt idx="2">
                  <c:v>312</c:v>
                </c:pt>
                <c:pt idx="3">
                  <c:v>264</c:v>
                </c:pt>
                <c:pt idx="4">
                  <c:v>216</c:v>
                </c:pt>
                <c:pt idx="5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8C-413F-A219-D887844D1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F3F3F2"/>
                </a:solidFill>
                <a:latin typeface="Arial"/>
                <a:ea typeface="+mn-ea"/>
                <a:cs typeface="+mn-cs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2E3038"/>
              </a:solidFill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F3F3F2"/>
                </a:solidFill>
                <a:latin typeface="Arial"/>
                <a:ea typeface="+mn-ea"/>
                <a:cs typeface="+mn-cs"/>
              </a:defRPr>
            </a:pPr>
            <a:endParaRPr lang="ru-RU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D267B-6D79-4F81-AC99-13526C410E1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C1427-149F-4711-AFDE-BC69C16EDF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505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9874B-39DB-EC32-7D04-70B8F384C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73EADD-DDAB-F064-8E3E-92EF01ACD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66E2A7-22F7-5A4E-4748-A968960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53E816-9833-AE79-B1CB-38563206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EAACEE-B5C4-FBA8-DC3C-8A0D3EB8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4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73511-884B-DA86-B0E2-84F822D8D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2D6307-CEFD-83F2-365E-6F4091064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EA0BFF-4B47-73B0-2A76-9AF4443D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FA17A9-5CA8-41C5-60BF-625FB3BEF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1CF0D6-4006-E357-5E2A-F5DBD505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14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720E5-2D79-4CF3-6F95-47E6BBB2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FFFDE2-D972-CD6C-BCDE-5BD1FAFE6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B43970-3565-2E45-30D3-25F11B28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43A83B-4FA8-2132-4B78-7212BAEF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B48AD2-181A-96AB-6ACB-AF1109F2D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8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0719D-842F-72C2-C8F6-6A659918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7C0CD3-49F9-0F9D-0C39-DD660B2A1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2782FA-77D4-9DBD-369A-270E8FF39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1F7056-392D-2A9E-A82F-8D5B88F2C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40132A-CB4B-D5F4-12EA-13B6D72A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20A654-EDEC-CFD6-EB01-A85AA341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657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DD9C3-905C-17E8-F4DB-B27CE20C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5B3350-47B4-3CB6-A497-D369E4C79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4D8C02-6F95-F7B3-F044-FACD0AC56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51DE6A-4713-62F0-BCD1-B72485C4B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14200E9-91BE-B7A5-ECD2-F941312BA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7AD806C-E4CD-FE4B-8D76-44656652B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126449-B7A9-1F85-C711-0AF5A89E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10A644-1743-A96D-05D0-20527910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107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D866E-C819-13ED-6DEC-29DCE9C4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D6C7D68-3B54-F762-9CA5-DC6890B8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1B8E167-28D7-E688-B22E-52F5458F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737470-D2DD-6A57-953B-ED0907A1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126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8AAC73-360D-0ED7-3967-1DF152BF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1BC617-791C-40C0-876C-6AEE691A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F4F9EE-FB7A-6636-686F-5C10DFE7A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85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E7271-DCCA-195E-B728-2F4D927B9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DC9D75-F42D-AA27-66C1-2E2CD4C3A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92F1DF-F904-1B31-E141-936C8F98F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3ADE6A-1161-4405-C15D-4A0EEE667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14436-A1EF-0EE7-326F-C07D8617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991EE6-69DF-392A-D1F6-ADE88034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80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62141B-382C-ED87-2E6E-96B9F57D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F58073B-0D82-DB37-F51B-49D56252E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1D5B5C-E884-E109-7B0C-A775E2E2C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465581-6CF6-0391-7E0F-A701BB747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0F8CDA-AA4A-1227-EBC8-2F56FEED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610454-3EA0-FE81-7C7C-C3A95CB8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44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D6B1A-B99A-DE4C-DD10-792BA113C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22F056-2509-2F7D-A13A-2B710B51F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6DE56-A835-493F-39A0-F54566DA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E4A589-11D6-7645-30C5-622FC20C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257E9E-F180-C77C-F4AF-2AA7D4C72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86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C94E55-CFFF-9837-9C73-9C5BE7AA35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9D76D6-39A3-199A-68C3-1BB38995E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31F472-28B8-69FC-46CF-14C8BBEC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CBE1C0-27A6-2861-766B-2AEED3B7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51EB4B-DF29-9287-1B6C-C117722C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189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24BDF5-21D1-F34F-28F3-4DFEB076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33C76E-5F35-3696-1EF9-C2786A901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F34F1C-5478-E9EB-9E21-BB2443B89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B9956-B0F5-407E-9D36-3317764366D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DA5174-22F5-C90A-81F4-AA4DF0A46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DFAEC3-07E7-B7B8-128F-CDFF85533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C1F3C-3A0C-4B25-B7A6-B75834CAB7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911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563"/>
            <a:ext cx="657496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Топ продуктов по выручке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7023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млн ₽ · 2024 год · ТОП-6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594033" y="2421929"/>
            <a:ext cx="32040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Инсайты по продуктам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873" y="2939256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08281" y="2929830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Корпоративная лицензия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лидер с долей 22% от общей выручки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873" y="3922117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08281" y="3912691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Облачная платформа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fastest growing, +41% YoY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873" y="4876601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08281" y="486717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Базовый тариф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наименьший вклад, но максимальный охват аудитории</a:t>
            </a:r>
            <a:endParaRPr lang="en-US" sz="1450" dirty="0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50506" y="2297906"/>
          <a:ext cx="5782269" cy="4168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A844454-F0F4-D542-4036-EE1C1131F787}"/>
              </a:ext>
            </a:extLst>
          </p:cNvPr>
          <p:cNvSpPr/>
          <p:nvPr/>
        </p:nvSpPr>
        <p:spPr>
          <a:xfrm>
            <a:off x="11038114" y="6503438"/>
            <a:ext cx="1153886" cy="354562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Широкоэкранный</PresentationFormat>
  <Paragraphs>8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IBM Plex Sans Medium</vt:lpstr>
      <vt:lpstr>Roboto</vt:lpstr>
      <vt:lpstr>Roboto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2026-06-28T12:22:45Z</dcterms:created>
  <dcterms:modified xsi:type="dcterms:W3CDTF">2026-06-28T12:23:04Z</dcterms:modified>
</cp:coreProperties>
</file>