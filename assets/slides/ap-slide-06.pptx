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F3F3F2"/>
                </a:solidFill>
              </a:rPr>
              <a:t>Конверсия,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Конверсия, 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2">
                  <a:tint val="5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C3-44BE-BC7F-A7DBD03FA87D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9C3-44BE-BC7F-A7DBD03FA87D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9C3-44BE-BC7F-A7DBD03FA87D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2">
                  <a:shade val="7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9C3-44BE-BC7F-A7DBD03FA87D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2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9C3-44BE-BC7F-A7DBD03FA87D}"/>
              </c:ext>
            </c:extLst>
          </c:dPt>
          <c:cat>
            <c:strRef>
              <c:f>Sheet1!$A$2:$A$6</c:f>
              <c:strCache>
                <c:ptCount val="5"/>
                <c:pt idx="0">
                  <c:v>Лиды</c:v>
                </c:pt>
                <c:pt idx="1">
                  <c:v>Квалификация</c:v>
                </c:pt>
                <c:pt idx="2">
                  <c:v>Предложение</c:v>
                </c:pt>
                <c:pt idx="3">
                  <c:v>Переговоры</c:v>
                </c:pt>
                <c:pt idx="4">
                  <c:v>Сделка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30</c:v>
                </c:pt>
                <c:pt idx="2">
                  <c:v>15</c:v>
                </c:pt>
                <c:pt idx="3">
                  <c:v>8</c:v>
                </c:pt>
                <c:pt idx="4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D-4775-87A6-1EDBBD655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E3038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051AD-7860-4B94-89E8-D153A4CAC9C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7BA78-ADFF-45A6-A303-EF1AD10CF8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24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8A74F-C0FF-A88E-EF4E-FB72478D9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EF5F74-3896-5AAE-AD42-EF7BCDC63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5A663E-054C-27A5-1B3F-BF65F671A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0BF88-A3A2-5265-A459-BBFB02D1E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06D45-D43F-25E1-2D5C-C44F006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15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F333F-479E-DDE9-FC87-320AD8DB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567EE-BE16-6952-AAC0-8780621A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66F0C6-4106-F7E8-AE27-D22A8F14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A49627-C680-1B64-542B-90C944B3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299A5E-737F-E205-5ECA-C3780BDD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20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CFE14-EB03-3401-BC6A-9D64B3FB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BB127B-F61E-2043-D6DA-994DC715F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6B37B7-8417-A6E8-BBA5-AA09DC4A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14A43F-008A-3B7A-0E2B-24ABC81A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1BEB72-1516-9578-6851-669580F5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49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FC204-8BB4-57E6-1936-4CE41BD2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36390-9F6C-7ABC-F414-7051DB00E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E69409-716F-2853-E070-29050A7C3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AC3B80-8EB9-87B5-31B5-43A44609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4F698A-4C11-198D-9B0E-20CF01B4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5C9711-CCFD-A08F-5290-A7A3037B2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23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EC1C9-9300-1E44-22C2-AD572C15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0EEEDC-F503-479D-606E-39123506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409337-A824-19E8-2B5D-860847DAC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D5FD0F-DD1A-20A6-E8C4-336C5D482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E9B1D2-9BB2-175F-C997-69BD1B0BA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90BE67-05A2-9F5C-A42B-C9F38E2B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8635D8-A555-949E-D136-CF8BC233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67A659-98AA-C035-5311-0091EA8C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69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F86CF-DEF4-7780-6033-B0DCD1ED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E89AE6-27B7-1DBE-9E97-D1285DA5D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BA2CD2-D9C0-B50C-A63E-56C2C0E9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FD0E68-2292-F000-CF86-5C527DD9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93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B93C29-1079-85A9-E196-CEF1C8C1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0CE19C-CC81-2340-33BB-9D89CFA6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1A4B1C-C10B-F9D1-3762-C2B12134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4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A2841-B4E7-A9EC-4EA8-BFE2A894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F7C22-7051-A42C-1773-7414A371F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F1BB15-E64E-3090-6273-514AD675A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751EEE-CA66-0EEE-27BD-B32FD7E7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3710A8-D5DB-6E1E-0C7E-6D705517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C3CC67-2AEC-D651-3B0B-9792F2E0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91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513C0-F1FB-7862-0A51-44363541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2AB522-3C32-5704-8502-C4FAADA97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0F4B7F-4321-9889-F0FD-42FF97122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BEB31E-18F5-FAB4-13F1-EFCAD638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2D73C-8279-7D41-669D-82F02E37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367453-AEDE-7FF6-965B-D7000894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35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91BF0-E7B9-2416-E458-DDAC7266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695DFE-859E-CCC0-E9B6-A34B7F929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5752E-8872-7D52-B6BA-C2FA8522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EB7181-0E7C-86D7-A43F-3D257924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16C69E-3272-AFB5-10FC-532CA247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3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CBB95E-4A5C-8847-E359-B350EB4DE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D5AFE2-C574-B0D4-6C6F-2C050D6FF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4ABE5-A086-7626-54C3-308CDF49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F278D3-C21F-BF34-8A42-2EF0A40D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BA964D-7788-A335-6E5F-AAE636C2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51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3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107D4-C676-C2DD-5B8B-5ADB4AD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A6E7DE-407F-3ADA-9EF8-D97F31D88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F985A-3420-6BED-51D7-B793EABB1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D8DB0-1A4C-4E41-9464-B1B76CC5B96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AFE6B2-2067-7B05-125A-A3376C327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FFEC98-D1D2-86E9-426D-9D5F01DD6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6E2E0-A334-4CBD-A2FC-3093AD4DDD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56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177"/>
            <a:ext cx="391735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Воронка продаж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23863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Конверсия по этапам · Q4 2024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5872758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Общая конверсия воронки — </a:t>
            </a: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1,8%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Критический спад на этапе «Лиды → Квалификация» (30% → 9%): 70% лидов не проходят первичный отбор. Требуется пересмотр критериев квалификации и качества входящего трафика.</a:t>
            </a:r>
            <a:endParaRPr lang="en-US" sz="100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1474" y="1223863"/>
          <a:ext cx="9172991" cy="4544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8B66AC-6829-E8DC-4EE6-380CCAD00D17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Широкоэкранный</PresentationFormat>
  <Paragraphs>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IBM Plex Sans Medium</vt:lpstr>
      <vt:lpstr>Roboto</vt:lpstr>
      <vt:lpstr>Roboto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2026-06-28T12:21:17Z</dcterms:created>
  <dcterms:modified xsi:type="dcterms:W3CDTF">2026-06-28T12:21:32Z</dcterms:modified>
</cp:coreProperties>
</file>