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₽</c:v>
                </c:pt>
              </c:strCache>
            </c:strRef>
          </c:tx>
          <c:spPr>
            <a:solidFill>
              <a:srgbClr val="8061FF"/>
            </a:solidFill>
            <a:ln w="25400">
              <a:solidFill>
                <a:srgbClr val="8061FF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570</c:v>
                </c:pt>
                <c:pt idx="2">
                  <c:v>630</c:v>
                </c:pt>
                <c:pt idx="3">
                  <c:v>680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8061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82F-4FE4-92AE-ACE7980A8B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Расходы, млн ₽</c:v>
                </c:pt>
              </c:strCache>
            </c:strRef>
          </c:tx>
          <c:spPr>
            <a:solidFill>
              <a:srgbClr val="A889FF"/>
            </a:solidFill>
            <a:ln w="25400">
              <a:solidFill>
                <a:srgbClr val="A889FF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420</c:v>
                </c:pt>
                <c:pt idx="1">
                  <c:v>450</c:v>
                </c:pt>
                <c:pt idx="2">
                  <c:v>490</c:v>
                </c:pt>
                <c:pt idx="3">
                  <c:v>520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A889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82F-4FE4-92AE-ACE7980A8B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EBITDA, млн ₽</c:v>
                </c:pt>
              </c:strCache>
            </c:strRef>
          </c:tx>
          <c:spPr>
            <a:solidFill>
              <a:srgbClr val="C0A8FF"/>
            </a:solidFill>
            <a:ln w="25400">
              <a:solidFill>
                <a:srgbClr val="C0A8FF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C0A8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82F-4FE4-92AE-ACE7980A8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1A106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b"/>
      <c:legendEntry>
        <c:idx val="0"/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legendEntry>
        <c:idx val="1"/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legendEntry>
        <c:idx val="2"/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overlay val="0"/>
      <c:spPr>
        <a:noFill/>
        <a:ln>
          <a:noFill/>
        </a:ln>
      </c:spPr>
      <c:txPr>
        <a:bodyPr/>
        <a:lstStyle/>
        <a:p>
          <a:pPr>
            <a:defRPr sz="700" b="0">
              <a:solidFill>
                <a:srgbClr val="D9E1FF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F60B0-9C2F-4DE4-A21F-37E02B1A88F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7341F-3650-4F92-ADF1-79478FCED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618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D92B8-DB1E-EC52-66D5-B40645758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340275-99BC-6167-3F49-FB4C20823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64CB94-C2AF-C22D-20C2-19412A0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B831C4-EAF5-D57B-4F76-919829A4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5DC33-D9D3-C675-49C3-82E680FD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49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ADF6D-9122-12C2-8628-DACB65FE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9064A6-0869-54C2-4F41-41E6AB2D3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5640C-1EFB-4B2A-250B-95A8DF5F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3FA9AC-1343-1121-30DF-099A6AD9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3887A-0AF1-8F97-7E05-2D8E4C8E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0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1206E-912C-B438-5538-375288FA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8DE468-8C0A-0570-FEB6-8A92108F7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520EF3-4060-FC9D-3D60-3E1E3120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013E1B-3BE0-D988-F9B2-8A3E248D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08443B-8750-6F22-F3B7-03EE3A2A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86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C059C-8F68-C1BB-B327-841828BA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A61DC4-89F4-50FD-CA1C-CCCF26C54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1643B2-7AF2-1528-21FF-22208D05B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4F1E18-19F2-2413-2B6C-8C659D6E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315050-8C41-A6F6-8C15-3BC85615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7B24B7-F144-33E4-47BE-276B8D7D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20748-0CC9-C414-8284-A0809501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277D83-DC95-1B90-191C-132B61895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C88597-3945-0297-7893-1647B8F32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5189E1-E220-40BD-4EA4-1B7040689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A25E31-440F-4B8E-2B5E-EBA7DDA42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4F7C76-762A-BDF6-2F9A-3F7A50CC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B705C0-49EE-7CDD-B0F9-81ACECB6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C63E6F-CCAD-3292-FE7E-87E1916B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626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D1B5E-C9C8-C82D-6046-E633A031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1DBA5-1811-A3F5-417D-50CB115C8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B4B7238-7424-744E-2C14-02AA4186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EDDA16-E4D9-6AFF-8D44-16065AF7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58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D53FC8-ECD8-3C71-1862-25BA9282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2037F0-7040-8019-40ED-BE87A768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ACDEA6-3783-0F8E-99EB-520A33F1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21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3079C-F5A7-9EF9-D2FF-7051BFAB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F14817-A5CD-0DEF-1969-0EFAE0C7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922B3F-87A4-5D26-320E-E9A1DC7C3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93E699-C5B0-BE67-87D6-A8547349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EFA51B-664B-ADB3-02C1-2886A617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1052F7-F39E-D089-87DE-6C22DC9C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78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2C8AA-1740-EA11-D531-8F29EAB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9E3D83-72FA-90A3-4708-1C7F6875B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7A69CA-7B1C-C2B4-8C51-A66CF459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1DC9A6-7A06-6BED-4C2E-1B4432E7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EACCA6-AC3B-ADD9-AD6B-78A1BFF8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373F8A-3F7A-9652-7450-255F594C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21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D3030-FB41-60F3-8DDE-51E566B88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D73F78-C42B-B99C-D18E-0D77C8CAA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772CFE-4885-AB38-98DF-94CEF8DE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D03F57-3C90-E728-6754-00D70504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6BB406-65D8-A5F6-9E66-ED64E259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01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79A752-727A-E8F9-1840-3BDD431E9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2A07E0-EAED-E505-639D-0DCD4F516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283D3-8E69-995C-97AC-601B7E10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52F33D-076F-7EBA-3783-D7D18118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3EC33B-B02F-AB61-C087-B506CF91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503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3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57AA6-2E63-09F3-24BE-288168DC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CE2EC8-9F48-B912-7F06-E0A89FE8E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D2B8EE-A5D4-E2C2-E117-07B8DC044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F4EE3-3233-4772-9010-953E0602393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FAB870-518F-28DB-1878-323B03B66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91A00C-1452-4A46-A083-F5A9D26B8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6F71E-FED5-48D3-901B-3FC00083E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89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74405"/>
            <a:ext cx="5583495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Отчёт о прибылях и убытках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61086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Динамика доходов, расходов и EBITDA в разрезе 2024 года, млн ₽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6052790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Выручка стабильно росла на протяжении года. EBITDA достигла 480 млн ₽ по итогам 2024 года, что на 22% выше уровня предыдущего года.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8086" y="1408327"/>
          <a:ext cx="9239016" cy="4531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A517E2-E6D1-0262-9762-51F6FA324413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Arimo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2026-06-28T15:30:20Z</dcterms:created>
  <dcterms:modified xsi:type="dcterms:W3CDTF">2026-06-28T15:30:37Z</dcterms:modified>
</cp:coreProperties>
</file>