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⭐ Звёзды (18%)</c:v>
                </c:pt>
              </c:strCache>
            </c:strRef>
          </c:tx>
          <c:spPr>
            <a:solidFill>
              <a:schemeClr val="accent2">
                <a:tint val="58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Sheet1!$A$2:$A$2</c:f>
              <c:numCache>
                <c:formatCode>General</c:formatCode>
                <c:ptCount val="1"/>
                <c:pt idx="0">
                  <c:v>8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18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63E7-4DD8-ACC0-04193384FE07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🌱 Потенциал (27%)</c:v>
                </c:pt>
              </c:strCache>
            </c:strRef>
          </c:tx>
          <c:spPr>
            <a:solidFill>
              <a:schemeClr val="accent2">
                <a:tint val="86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Sheet1!$A$5:$A$5</c:f>
              <c:numCache>
                <c:formatCode>General</c:formatCode>
                <c:ptCount val="1"/>
                <c:pt idx="0">
                  <c:v>7.5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27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1-63E7-4DD8-ACC0-04193384FE07}"/>
            </c:ext>
          </c:extLst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⚠️ VIP риск (15%)</c:v>
                </c:pt>
              </c:strCache>
            </c:strRef>
          </c:tx>
          <c:spPr>
            <a:solidFill>
              <a:schemeClr val="accent2">
                <a:shade val="86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Sheet1!$A$8:$A$8</c:f>
              <c:numCache>
                <c:formatCode>General</c:formatCode>
                <c:ptCount val="1"/>
                <c:pt idx="0">
                  <c:v>2.5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8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15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2-63E7-4DD8-ACC0-04193384FE07}"/>
            </c:ext>
          </c:extLst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📉 Отток (40%)</c:v>
                </c:pt>
              </c:strCache>
            </c:strRef>
          </c:tx>
          <c:spPr>
            <a:solidFill>
              <a:schemeClr val="accent2">
                <a:shade val="58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Sheet1!$A$11:$A$11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2.5</c:v>
                </c:pt>
              </c:numCache>
            </c:numRef>
          </c:yVal>
          <c:bubbleSize>
            <c:numRef>
              <c:f>Sheet1!$C$11:$C$11</c:f>
              <c:numCache>
                <c:formatCode>General</c:formatCode>
                <c:ptCount val="1"/>
                <c:pt idx="0">
                  <c:v>40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3-63E7-4DD8-ACC0-04193384F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E3038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F3F3F2"/>
                </a:solidFill>
                <a:latin typeface="Arial"/>
                <a:ea typeface="+mn-ea"/>
                <a:cs typeface="+mn-cs"/>
              </a:defRPr>
            </a:pPr>
            <a:endParaRPr lang="ru-RU"/>
          </a:p>
        </c:txPr>
        <c:crossAx val="-21157200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F3F3F2"/>
              </a:solidFill>
              <a:latin typeface="Arial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7D0EB-6500-4EEA-898C-E2869F260FE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0BCD9-D58D-411F-B9F2-205FE60C3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33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5DA9F-3B3F-4092-521E-F07A84AF6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09982D-10F9-F09E-D89A-62D416DEC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1D5DC2-FE1E-5234-6ADA-228CF8DE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1FB4B5-20F9-8530-6002-436DA480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584F-AFB8-645C-517B-55B8C252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6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66555-F955-2961-3523-716CF70A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2A8F5-ECF0-9B30-CFA8-A97CAD505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7FD57F-C256-DFE4-8D03-6A4CF63B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DAF8FF-10CE-CA3E-5377-74C56F88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0AC5F-958E-2DA3-5929-87A948012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41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8D8FD-E8FC-1DF4-3134-61A1B0A1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0E3F53-E35E-61DA-D93E-9F12C2D13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1ABBE5-4876-EBD7-4269-6C1CDB07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63590C-862F-18DF-6002-201E5548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07A9B-2D76-842B-76A3-5495B0EA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67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E6FE5-4098-349B-8ABF-3E9B41AE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E0B4D-EE1B-C2F6-A743-57F72CBE6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29B19D-7CBE-901C-078C-C95E86017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CB4672-D17A-1D08-4DE7-766DE1C7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037F48-EB84-2E17-BFC0-07F737BF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E084EE-0791-E941-7ADF-2E23A7DD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8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39BA1-88D6-71D9-83FB-A4983B2E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D181A-E67B-FCC5-A587-C43DE4398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771DFD-BB0B-7B2F-A8AB-A52A8285E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95C520-1459-E4DB-5146-154FFD1D7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E68884-F8A7-674E-4964-7FA676B04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0DD4CA-D5B2-C998-C2AC-6391326E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867E3B-5E43-1A8F-3807-383A1681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CC11F4-2A04-117E-DF4C-17209364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32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EC410-8749-A4EF-3781-001B4A842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D6163B-5D0C-6A89-44AD-C811C835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B631BF-8752-C96C-00F7-CFE92BFF1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DB5836-F6C5-B906-B704-9B4B2487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63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18AE3E-14FB-0983-80AF-E017F79E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151BF9-CA62-7EAA-5097-E7152F7F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4F8E4F-19B7-37ED-8F47-1B9766B5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62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B83D1-39A5-7C61-2B4D-266C81EE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A2E69F-5ECE-074D-4455-D7A8870BB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6BA241-3257-C2CA-18F6-A9EE3AAB9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5FDB1E-00D1-BB45-A3D2-AAA55E7CE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724E1B-CC50-2BF0-2ACD-700ADE9D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331A6E-A7B2-9B93-FFB1-9F8DDEDF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91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9B444-EC3A-2D8E-D35A-3FEBA74F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FDC4C7-63C9-D82A-E705-3402440FA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1DBAA3-C900-18B6-080D-4ED087640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327FDD-2450-1A04-F9D4-EFF861F0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FC12D8-D555-B976-F4C1-55EFD06E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01E1E8-4F06-274A-F54A-CA783ABB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72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8D1FB-C04B-6193-5AB2-450FD6B2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EF92DD-608B-CA83-377A-8DD562067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330BF5-18B5-25B7-02E2-581B630D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A6F5CA-D867-02FE-D570-39EF312D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7B414-51D3-372A-96A9-EB0BA073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95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B6FE9F-439D-A07F-E87E-DDAAD0E05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6D434A-B995-AA24-E45C-FB7702889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19DB6D-148B-7BB9-8D91-D8AB2B45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6C23F2-10DD-E43C-6547-BA2673A5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238BD-C831-C242-45B6-A76C5DC6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657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7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FCDE1-BCC7-86D4-6BDA-F0BAC2F4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275C54-C8AE-90FB-F60B-FF8AC001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A814B6-6ACB-53C2-2AB3-646430772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6463F-4126-4DBC-9EBD-7A0C0287B12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1301C2-BF93-8E17-7E40-D0BC0E321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3B3D57-D280-CA7B-6F69-332C6E6BA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46177-5EB2-4EFE-BB83-5CCB1479D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36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912"/>
            <a:ext cx="4771608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Сегментация клиентов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73287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Матрица: ценность × вовлечённость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286640" y="1954510"/>
            <a:ext cx="28015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Стратегии по сегментам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286640" y="2326779"/>
            <a:ext cx="2564443" cy="1754386"/>
          </a:xfrm>
          <a:prstGeom prst="roundRect">
            <a:avLst>
              <a:gd name="adj" fmla="val 1293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6437846" y="2477988"/>
            <a:ext cx="189016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Звёзды — 18%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37846" y="2841526"/>
            <a:ext cx="2262032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ценность и вовлечённость. Приоритет: удерживать и развивать через персональные программы лояльности.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972028" y="2326779"/>
            <a:ext cx="2564542" cy="1754386"/>
          </a:xfrm>
          <a:prstGeom prst="roundRect">
            <a:avLst>
              <a:gd name="adj" fmla="val 1293"/>
            </a:avLst>
          </a:prstGeom>
          <a:solidFill>
            <a:srgbClr val="484B51"/>
          </a:solidFill>
          <a:ln/>
        </p:spPr>
      </p:sp>
      <p:sp>
        <p:nvSpPr>
          <p:cNvPr id="10" name="Text 7"/>
          <p:cNvSpPr/>
          <p:nvPr/>
        </p:nvSpPr>
        <p:spPr>
          <a:xfrm>
            <a:off x="9123233" y="2477988"/>
            <a:ext cx="1909616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r>
              <a:rPr lang="en-US" sz="1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Потенциал — 27%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23233" y="2841526"/>
            <a:ext cx="2262131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Низкая ценность, высокая вовлечённость. Приоритет: прогревать и конвертировать в высокомаржинальные продукты.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86640" y="4202113"/>
            <a:ext cx="2564443" cy="1754386"/>
          </a:xfrm>
          <a:prstGeom prst="roundRect">
            <a:avLst>
              <a:gd name="adj" fmla="val 1293"/>
            </a:avLst>
          </a:prstGeom>
          <a:solidFill>
            <a:srgbClr val="484B51"/>
          </a:solidFill>
          <a:ln/>
        </p:spPr>
      </p:sp>
      <p:sp>
        <p:nvSpPr>
          <p:cNvPr id="13" name="Text 10"/>
          <p:cNvSpPr/>
          <p:nvPr/>
        </p:nvSpPr>
        <p:spPr>
          <a:xfrm>
            <a:off x="6437846" y="4353322"/>
            <a:ext cx="189016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VIP риск — 15%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37846" y="4716859"/>
            <a:ext cx="2262032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ценность, низкая вовлечённость. Приоритет: реактивация через личный контакт менеджера.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72028" y="4202113"/>
            <a:ext cx="2564542" cy="1754386"/>
          </a:xfrm>
          <a:prstGeom prst="roundRect">
            <a:avLst>
              <a:gd name="adj" fmla="val 1293"/>
            </a:avLst>
          </a:prstGeom>
          <a:solidFill>
            <a:srgbClr val="484B51"/>
          </a:solidFill>
          <a:ln/>
        </p:spPr>
      </p:sp>
      <p:sp>
        <p:nvSpPr>
          <p:cNvPr id="16" name="Text 13"/>
          <p:cNvSpPr/>
          <p:nvPr/>
        </p:nvSpPr>
        <p:spPr>
          <a:xfrm>
            <a:off x="9123233" y="4353322"/>
            <a:ext cx="189016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Отток — 40%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123233" y="4716859"/>
            <a:ext cx="2262131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Низкая ценность и вовлечённость. Приоритет: массовые автоматизированные программы реактивации.</a:t>
            </a:r>
            <a:endParaRPr lang="en-US" sz="1150" dirty="0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61475" y="1863030"/>
          <a:ext cx="4600990" cy="4556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B08EB66-D681-B161-3462-A3C784F8D70D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Широкоэкранный</PresentationFormat>
  <Paragraphs>12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IBM Plex Sans Medium</vt:lpstr>
      <vt:lpstr>Roboto</vt:lpstr>
      <vt:lpstr>Twemoji Mozilla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2026-06-28T12:22:05Z</dcterms:created>
  <dcterms:modified xsi:type="dcterms:W3CDTF">2026-06-28T12:22:12Z</dcterms:modified>
</cp:coreProperties>
</file>