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Органика</c:v>
                </c:pt>
              </c:strCache>
            </c:strRef>
          </c:tx>
          <c:spPr>
            <a:solidFill>
              <a:srgbClr val="7C3AED"/>
            </a:solidFill>
            <a:ln w="31750" cap="flat">
              <a:solidFill>
                <a:srgbClr val="7C3AE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7C3AED"/>
              </a:solidFill>
              <a:ln w="9525" cap="flat">
                <a:solidFill>
                  <a:srgbClr val="7C3AE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Янв</c:v>
                  </c:pt>
                  <c:pt idx="1">
                    <c:v>Фев</c:v>
                  </c:pt>
                  <c:pt idx="2">
                    <c:v>Мар</c:v>
                  </c:pt>
                  <c:pt idx="3">
                    <c:v>Апр</c:v>
                  </c:pt>
                  <c:pt idx="4">
                    <c:v>Май</c:v>
                  </c:pt>
                  <c:pt idx="5">
                    <c:v>Июн</c:v>
                  </c:pt>
                  <c:pt idx="6">
                    <c:v>Июл</c:v>
                  </c:pt>
                  <c:pt idx="7">
                    <c:v>Авг</c:v>
                  </c:pt>
                  <c:pt idx="8">
                    <c:v>Сен</c:v>
                  </c:pt>
                  <c:pt idx="9">
                    <c:v>Окт</c:v>
                  </c:pt>
                  <c:pt idx="10">
                    <c:v>Ноя</c:v>
                  </c:pt>
                  <c:pt idx="11">
                    <c:v>Дек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85</c:v>
                </c:pt>
                <c:pt idx="1">
                  <c:v>90</c:v>
                </c:pt>
                <c:pt idx="2">
                  <c:v>100</c:v>
                </c:pt>
                <c:pt idx="3">
                  <c:v>108</c:v>
                </c:pt>
                <c:pt idx="4">
                  <c:v>115</c:v>
                </c:pt>
                <c:pt idx="5">
                  <c:v>122</c:v>
                </c:pt>
                <c:pt idx="6">
                  <c:v>118</c:v>
                </c:pt>
                <c:pt idx="7">
                  <c:v>125</c:v>
                </c:pt>
                <c:pt idx="8">
                  <c:v>135</c:v>
                </c:pt>
                <c:pt idx="9">
                  <c:v>145</c:v>
                </c:pt>
                <c:pt idx="10">
                  <c:v>152</c:v>
                </c:pt>
                <c:pt idx="11">
                  <c:v>160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Платный</c:v>
                </c:pt>
              </c:strCache>
            </c:strRef>
          </c:tx>
          <c:spPr>
            <a:solidFill>
              <a:srgbClr val="F59E0B"/>
            </a:solidFill>
            <a:ln w="31750" cap="flat">
              <a:solidFill>
                <a:srgbClr val="F59E0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Янв</c:v>
                  </c:pt>
                  <c:pt idx="1">
                    <c:v>Фев</c:v>
                  </c:pt>
                  <c:pt idx="2">
                    <c:v>Мар</c:v>
                  </c:pt>
                  <c:pt idx="3">
                    <c:v>Апр</c:v>
                  </c:pt>
                  <c:pt idx="4">
                    <c:v>Май</c:v>
                  </c:pt>
                  <c:pt idx="5">
                    <c:v>Июн</c:v>
                  </c:pt>
                  <c:pt idx="6">
                    <c:v>Июл</c:v>
                  </c:pt>
                  <c:pt idx="7">
                    <c:v>Авг</c:v>
                  </c:pt>
                  <c:pt idx="8">
                    <c:v>Сен</c:v>
                  </c:pt>
                  <c:pt idx="9">
                    <c:v>Окт</c:v>
                  </c:pt>
                  <c:pt idx="10">
                    <c:v>Ноя</c:v>
                  </c:pt>
                  <c:pt idx="11">
                    <c:v>Дек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55</c:v>
                </c:pt>
                <c:pt idx="1">
                  <c:v>60</c:v>
                </c:pt>
                <c:pt idx="2">
                  <c:v>70</c:v>
                </c:pt>
                <c:pt idx="3">
                  <c:v>75</c:v>
                </c:pt>
                <c:pt idx="4">
                  <c:v>80</c:v>
                </c:pt>
                <c:pt idx="5">
                  <c:v>88</c:v>
                </c:pt>
                <c:pt idx="6">
                  <c:v>82</c:v>
                </c:pt>
                <c:pt idx="7">
                  <c:v>90</c:v>
                </c:pt>
                <c:pt idx="8">
                  <c:v>95</c:v>
                </c:pt>
                <c:pt idx="9">
                  <c:v>102</c:v>
                </c:pt>
                <c:pt idx="10">
                  <c:v>108</c:v>
                </c:pt>
                <c:pt idx="11">
                  <c:v>115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Социальные</c:v>
                </c:pt>
              </c:strCache>
            </c:strRef>
          </c:tx>
          <c:spPr>
            <a:solidFill>
              <a:srgbClr val="14B8A6"/>
            </a:solidFill>
            <a:ln w="31750" cap="flat">
              <a:solidFill>
                <a:srgbClr val="14B8A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4B8A6"/>
              </a:solidFill>
              <a:ln w="9525" cap="flat">
                <a:solidFill>
                  <a:srgbClr val="14B8A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Янв</c:v>
                  </c:pt>
                  <c:pt idx="1">
                    <c:v>Фев</c:v>
                  </c:pt>
                  <c:pt idx="2">
                    <c:v>Мар</c:v>
                  </c:pt>
                  <c:pt idx="3">
                    <c:v>Апр</c:v>
                  </c:pt>
                  <c:pt idx="4">
                    <c:v>Май</c:v>
                  </c:pt>
                  <c:pt idx="5">
                    <c:v>Июн</c:v>
                  </c:pt>
                  <c:pt idx="6">
                    <c:v>Июл</c:v>
                  </c:pt>
                  <c:pt idx="7">
                    <c:v>Авг</c:v>
                  </c:pt>
                  <c:pt idx="8">
                    <c:v>Сен</c:v>
                  </c:pt>
                  <c:pt idx="9">
                    <c:v>Окт</c:v>
                  </c:pt>
                  <c:pt idx="10">
                    <c:v>Ноя</c:v>
                  </c:pt>
                  <c:pt idx="11">
                    <c:v>Дек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30</c:v>
                </c:pt>
                <c:pt idx="1">
                  <c:v>35</c:v>
                </c:pt>
                <c:pt idx="2">
                  <c:v>40</c:v>
                </c:pt>
                <c:pt idx="3">
                  <c:v>38</c:v>
                </c:pt>
                <c:pt idx="4">
                  <c:v>45</c:v>
                </c:pt>
                <c:pt idx="5">
                  <c:v>50</c:v>
                </c:pt>
                <c:pt idx="6">
                  <c:v>48</c:v>
                </c:pt>
                <c:pt idx="7">
                  <c:v>55</c:v>
                </c:pt>
                <c:pt idx="8">
                  <c:v>58</c:v>
                </c:pt>
                <c:pt idx="9">
                  <c:v>62</c:v>
                </c:pt>
                <c:pt idx="10">
                  <c:v>65</c:v>
                </c:pt>
                <c:pt idx="11">
                  <c:v>70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5F3FF"/>
        </a:solidFill>
        <a:ln>
          <a:noFill/>
        </a:ln>
        <a:effectLst/>
      </c:spPr>
    </c:plotArea>
    <c:legend>
      <c:legendPos val="t"/>
      <c:overlay val="0"/>
    </c:legend>
    <c:plotVisOnly val="1"/>
    <c:dispBlanksAs val="span"/>
  </c:chart>
  <c:spPr>
    <a:solidFill>
      <a:srgbClr val="F5F3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Бюджет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7C3AED"/>
              </a:solidFill>
              <a:effectLst/>
            </c:spPr>
          </c:dPt>
          <c:dPt>
            <c:idx val="1"/>
            <c:bubble3D val="0"/>
            <c:spPr>
              <a:solidFill>
                <a:srgbClr val="6D28D9"/>
              </a:solidFill>
              <a:effectLst/>
            </c:spPr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bubble3D val="0"/>
            <c:spPr>
              <a:solidFill>
                <a:srgbClr val="14B8A6"/>
              </a:solidFill>
              <a:effectLst/>
            </c:spPr>
          </c:dPt>
          <c:dPt>
            <c:idx val="4"/>
            <c:bubble3D val="0"/>
            <c:spPr>
              <a:solidFill>
                <a:srgbClr val="94A3B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Контекст</c:v>
                </c:pt>
                <c:pt idx="1">
                  <c:v>SMM</c:v>
                </c:pt>
                <c:pt idx="2">
                  <c:v>SEO</c:v>
                </c:pt>
                <c:pt idx="3">
                  <c:v>Email</c:v>
                </c:pt>
                <c:pt idx="4">
                  <c:v>Офлайн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35</c:v>
                </c:pt>
                <c:pt idx="1">
                  <c:v>25</c:v>
                </c:pt>
                <c:pt idx="2">
                  <c:v>18</c:v>
                </c:pt>
                <c:pt idx="3">
                  <c:v>12</c:v>
                </c:pt>
                <c:pt idx="4">
                  <c:v>10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Конверсия, %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Офлайн</c:v>
                  </c:pt>
                  <c:pt idx="1">
                    <c:v>SMM</c:v>
                  </c:pt>
                  <c:pt idx="2">
                    <c:v>Email</c:v>
                  </c:pt>
                  <c:pt idx="3">
                    <c:v>Контекст</c:v>
                  </c:pt>
                  <c:pt idx="4">
                    <c:v>SEO</c:v>
                  </c:pt>
                  <c:pt idx="5">
                    <c:v>Реферал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1.8</c:v>
                </c:pt>
                <c:pt idx="1">
                  <c:v>2.4</c:v>
                </c:pt>
                <c:pt idx="2">
                  <c:v>3.6</c:v>
                </c:pt>
                <c:pt idx="3">
                  <c:v>4.2</c:v>
                </c:pt>
                <c:pt idx="4">
                  <c:v>5.8</c:v>
                </c:pt>
                <c:pt idx="5">
                  <c:v>7.1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1B4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5F3FF"/>
        </a:solidFill>
        <a:ln>
          <a:noFill/>
        </a:ln>
        <a:effectLst/>
      </c:spPr>
    </c:plotArea>
    <c:plotVisOnly val="1"/>
    <c:dispBlanksAs val="span"/>
  </c:chart>
  <c:spPr>
    <a:solidFill>
      <a:srgbClr val="F5F3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ROI, %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Реферальная</c:v>
                  </c:pt>
                  <c:pt idx="1">
                    <c:v>Email-капля</c:v>
                  </c:pt>
                  <c:pt idx="2">
                    <c:v>SEO-блог</c:v>
                  </c:pt>
                  <c:pt idx="3">
                    <c:v>Ретаргетинг</c:v>
                  </c:pt>
                  <c:pt idx="4">
                    <c:v>Лид-магнит</c:v>
                  </c:pt>
                  <c:pt idx="5">
                    <c:v>Брендинг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180</c:v>
                </c:pt>
                <c:pt idx="1">
                  <c:v>240</c:v>
                </c:pt>
                <c:pt idx="2">
                  <c:v>310</c:v>
                </c:pt>
                <c:pt idx="3">
                  <c:v>390</c:v>
                </c:pt>
                <c:pt idx="4">
                  <c:v>450</c:v>
                </c:pt>
                <c:pt idx="5">
                  <c:v>620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1B4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Титульный слайд маркетингового отчёта.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KPI-дашборд: CAC, LTV, ROAS и охват.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Воронка привлечения: от охвата до покупки.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Динамика трафика по трём каналам за 12 месяцев.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Структура маркетингового бюджета по каналам.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Конверсия в лид по маркетинговым каналам.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Матрица приоритизации контента 2×2: охват vs вовлечённость.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Сравнительная таблица маркетинговых каналов.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Топ-6 кампаний по ROI за 2024 год.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Итоговый слайд маркетингового отчёта.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097280"/>
            <a:ext cx="4572000" cy="4572000"/>
          </a:xfrm>
          <a:prstGeom prst="ellipse">
            <a:avLst/>
          </a:prstGeom>
          <a:solidFill>
            <a:srgbClr val="7C3AED">
              <a:alpha val="35000"/>
            </a:srgbClr>
          </a:solidFill>
          <a:ln w="12700">
            <a:solidFill>
              <a:srgbClr val="1E1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2286000"/>
            <a:ext cx="3200400" cy="3200400"/>
          </a:xfrm>
          <a:prstGeom prst="ellipse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1E10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94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БИБЛИОТЕКА СЛАЙДОВ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6858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Маркетинг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 привлечение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22860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8803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Каналы · Конверсия · CAC · LTV · ROI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4389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/ Полный год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Ключевые маркетинговые метрики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год · итоговые показатели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920240" cy="25603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325880"/>
            <a:ext cx="1645920" cy="64008"/>
          </a:xfrm>
          <a:prstGeom prst="roundRect">
            <a:avLst>
              <a:gd name="adj" fmla="val 4285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087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₽ 1 240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24231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CAC, руб.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8346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−12% vs 2023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32888" y="1234440"/>
            <a:ext cx="1920240" cy="25603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70048" y="1325880"/>
            <a:ext cx="1645920" cy="64008"/>
          </a:xfrm>
          <a:prstGeom prst="roundRect">
            <a:avLst>
              <a:gd name="adj" fmla="val 4285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24328" y="15087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₽ 8 400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624328" y="24231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LTV, руб.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24328" y="28346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+21% vs 2023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08576" y="1234440"/>
            <a:ext cx="1920240" cy="25603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45736" y="1325880"/>
            <a:ext cx="1645920" cy="64008"/>
          </a:xfrm>
          <a:prstGeom prst="roundRect">
            <a:avLst>
              <a:gd name="adj" fmla="val 4285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0016" y="15087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6,8×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700016" y="24231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00016" y="28346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+0.9×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684264" y="1234440"/>
            <a:ext cx="1920240" cy="25603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21424" y="1325880"/>
            <a:ext cx="1645920" cy="64008"/>
          </a:xfrm>
          <a:prstGeom prst="roundRect">
            <a:avLst>
              <a:gd name="adj" fmla="val 4285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75704" y="15087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 млн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775704" y="24231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Охват/мес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775704" y="28346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+34%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Воронка привлечения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охвата до покупки · 2024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143000"/>
            <a:ext cx="7772400" cy="566928"/>
          </a:xfrm>
          <a:prstGeom prst="roundRect">
            <a:avLst>
              <a:gd name="adj" fmla="val 967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252728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Охват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416552" y="1252728"/>
            <a:ext cx="27203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2 400 000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543800" y="1252728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463040" y="1847088"/>
            <a:ext cx="6217920" cy="566928"/>
          </a:xfrm>
          <a:prstGeom prst="roundRect">
            <a:avLst>
              <a:gd name="adj" fmla="val 9677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0" y="195681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Визиты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447642" y="1956816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480 000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766560" y="1956816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40280" y="2551176"/>
            <a:ext cx="4663440" cy="566928"/>
          </a:xfrm>
          <a:prstGeom prst="roundRect">
            <a:avLst>
              <a:gd name="adj" fmla="val 9677"/>
            </a:avLst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23160" y="2660904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Лиды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78731" y="2660904"/>
            <a:ext cx="16322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96 000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89320" y="2660904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017520" y="3255264"/>
            <a:ext cx="3108960" cy="566928"/>
          </a:xfrm>
          <a:prstGeom prst="roundRect">
            <a:avLst>
              <a:gd name="adj" fmla="val 9677"/>
            </a:avLst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0" y="336499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Корзина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09821" y="3364992"/>
            <a:ext cx="1088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28 800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212080" y="3364992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1.2%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703320" y="3959352"/>
            <a:ext cx="1737360" cy="566928"/>
          </a:xfrm>
          <a:prstGeom prst="roundRect">
            <a:avLst>
              <a:gd name="adj" fmla="val 9677"/>
            </a:avLst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0" y="4087368"/>
            <a:ext cx="9555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Покупка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0" y="4087368"/>
            <a:ext cx="7818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14 400  0.6%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Динамика трафика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тыс. визитов в месяц по каналам · 2024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05840"/>
          <a:ext cx="822960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Структура маркетингового бюджета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распределение по каналам · 2024 год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914400"/>
          <a:ext cx="475488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394960" y="1005840"/>
            <a:ext cx="3383280" cy="594360"/>
          </a:xfrm>
          <a:prstGeom prst="roundRect">
            <a:avLst>
              <a:gd name="adj" fmla="val 12308"/>
            </a:avLst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577840" y="1133856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35040" y="106070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Контекстная реклама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35040" y="130759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394960" y="1755648"/>
            <a:ext cx="3383280" cy="594360"/>
          </a:xfrm>
          <a:prstGeom prst="roundRect">
            <a:avLst>
              <a:gd name="adj" fmla="val 12308"/>
            </a:avLst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577840" y="1883664"/>
            <a:ext cx="347472" cy="347472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35040" y="181051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SMM / таргетинг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035040" y="205740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394960" y="2505456"/>
            <a:ext cx="3383280" cy="594360"/>
          </a:xfrm>
          <a:prstGeom prst="roundRect">
            <a:avLst>
              <a:gd name="adj" fmla="val 12308"/>
            </a:avLst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577840" y="2633472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35040" y="25603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/ контент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035040" y="280720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394960" y="3255264"/>
            <a:ext cx="3383280" cy="594360"/>
          </a:xfrm>
          <a:prstGeom prst="roundRect">
            <a:avLst>
              <a:gd name="adj" fmla="val 12308"/>
            </a:avLst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577840" y="3383280"/>
            <a:ext cx="347472" cy="34747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035040" y="33101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Email-маркетинг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035040" y="355701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394960" y="4005072"/>
            <a:ext cx="3383280" cy="594360"/>
          </a:xfrm>
          <a:prstGeom prst="roundRect">
            <a:avLst>
              <a:gd name="adj" fmla="val 12308"/>
            </a:avLst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577840" y="4133088"/>
            <a:ext cx="347472" cy="347472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035040" y="405993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Офлайн и ивенты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035040" y="430682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Конверсия по каналам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конверсии в лид · среднее за 2024 год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05840"/>
          <a:ext cx="841248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Контент-матрица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охват × вовлечённость · приоритизация контента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206240" cy="1828800"/>
          </a:xfrm>
          <a:prstGeom prst="roundRect">
            <a:avLst>
              <a:gd name="adj" fmla="val 6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1612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Звёздный контент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383280" y="114300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Масштаб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58191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Высокий охват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Высокая вовлечённость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051560"/>
            <a:ext cx="4206240" cy="1828800"/>
          </a:xfrm>
          <a:prstGeom prst="roundRect">
            <a:avLst>
              <a:gd name="adj" fmla="val 6000"/>
            </a:avLst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0" y="11612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Нишевые хиты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0" y="114300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Продвигать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0" y="158191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Низкий охват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Высокая вовлечённость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4206240" cy="182880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312724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Широкий охват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383280" y="31089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Улучшить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354787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Высокий охват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Низкая вовлечённость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3017520"/>
            <a:ext cx="4206240" cy="1828800"/>
          </a:xfrm>
          <a:prstGeom prst="roundRect">
            <a:avLst>
              <a:gd name="adj" fmla="val 6000"/>
            </a:avLst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0" y="312724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Пересмотреть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772400" y="31089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Отказаться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354787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Низкий охват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Низкая вовлечённость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773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Охват →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Сравнение каналов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эффективность по ключевым метрикам · 2024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566160"/>
        </p:xfrm>
        <a:graphic>
          <a:graphicData uri="http://schemas.openxmlformats.org/drawingml/2006/table">
            <a:tbl>
              <a:tblPr/>
              <a:tblGrid>
                <a:gridCol w="1828800"/>
                <a:gridCol w="1645920"/>
                <a:gridCol w="1371600"/>
                <a:gridCol w="1645920"/>
                <a:gridCol w="1737360"/>
              </a:tblGrid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Канал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Бюджет, 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Лиды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CAC, 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Контекст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 млн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28 000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1 250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7.2×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 млн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21 000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8.6×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 млн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9 600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10.4×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 млн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1 667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Офлайн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 млн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4 800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3 333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Топ кампаний по ROI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возврата на инвестиции · ТОП-6 · 2024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05840"/>
          <a:ext cx="841248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Ключевые выводы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Маркетинг 2024 · итоги и план на 2025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1691640"/>
          </a:xfrm>
          <a:prstGeom prst="roundRect">
            <a:avLst>
              <a:gd name="adj" fmla="val 648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20700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34440" y="122529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— лидер эффективности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" y="1691640"/>
            <a:ext cx="3657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ROAS 10.4× при минимальных затратах. В 2025 расширить базу на 40% и внедрить автоматизацию.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097280"/>
            <a:ext cx="4023360" cy="1691640"/>
          </a:xfrm>
          <a:prstGeom prst="roundRect">
            <a:avLst>
              <a:gd name="adj" fmla="val 6486"/>
            </a:avLst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10912" y="120700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623560" y="122529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даёт лучший CAC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10912" y="1691640"/>
            <a:ext cx="3657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Стоимость лида ₽857 — на 31% ниже среднего. Увеличить бюджет на контент до 25% от общего.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971800"/>
            <a:ext cx="4023360" cy="1691640"/>
          </a:xfrm>
          <a:prstGeom prst="roundRect">
            <a:avLst>
              <a:gd name="adj" fmla="val 648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308152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34440" y="309981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SMM: охват есть, ROI слабый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" y="3566160"/>
            <a:ext cx="3657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ROAS 5.1× при значительном бюджете. Пересмотреть форматы и усилить видеоконтент.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2971800"/>
            <a:ext cx="4023360" cy="1691640"/>
          </a:xfrm>
          <a:prstGeom prst="roundRect">
            <a:avLst>
              <a:gd name="adj" fmla="val 6486"/>
            </a:avLst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10912" y="308152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623560" y="309981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2025: CAC ниже ₽1 000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10912" y="3566160"/>
            <a:ext cx="3657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Перераспределить бюджет в пользу email и SEO. Сократить долю офлайн с 10% до 5%.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Библиотека слайдов — Маркетинг</dc:title>
  <dc:subject>PptxGenJS Presentation</dc:subject>
  <dc:creator>PptxGenJS</dc:creator>
  <cp:lastModifiedBy>PptxGenJS</cp:lastModifiedBy>
  <cp:revision>1</cp:revision>
  <dcterms:created xsi:type="dcterms:W3CDTF">2026-06-27T14:01:44Z</dcterms:created>
  <dcterms:modified xsi:type="dcterms:W3CDTF">2026-06-27T14:01:44Z</dcterms:modified>
</cp:coreProperties>
</file>