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Видео</c:v>
                </c:pt>
              </c:strCache>
            </c:strRef>
          </c:tx>
          <c:spPr>
            <a:ln w="25400">
              <a:solidFill>
                <a:srgbClr val="EF9C82"/>
              </a:solidFill>
            </a:ln>
          </c:spPr>
          <c:xVal>
            <c:numRef>
              <c:f>Sheet1!$A$2:$A$2</c:f>
              <c:numCache>
                <c:formatCode>General</c:formatCode>
                <c:ptCount val="1"/>
                <c:pt idx="0">
                  <c:v>8.1999999999999993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8.8000000000000007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EE-466C-A37F-D42AC9DDCC94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Статья</c:v>
                </c:pt>
              </c:strCache>
            </c:strRef>
          </c:tx>
          <c:spPr>
            <a:ln w="25400">
              <a:solidFill>
                <a:srgbClr val="5A9E96"/>
              </a:solidFill>
            </a:ln>
          </c:spPr>
          <c:xVal>
            <c:numRef>
              <c:f>Sheet1!$A$5:$A$5</c:f>
              <c:numCache>
                <c:formatCode>General</c:formatCode>
                <c:ptCount val="1"/>
                <c:pt idx="0">
                  <c:v>4.8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EEE-466C-A37F-D42AC9DDCC94}"/>
            </c:ext>
          </c:extLst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Инфографика</c:v>
                </c:pt>
              </c:strCache>
            </c:strRef>
          </c:tx>
          <c:spPr>
            <a:ln w="25400">
              <a:solidFill>
                <a:srgbClr val="D07060"/>
              </a:solidFill>
            </a:ln>
          </c:spPr>
          <c:xVal>
            <c:numRef>
              <c:f>Sheet1!$A$8:$A$8</c:f>
              <c:numCache>
                <c:formatCode>General</c:formatCode>
                <c:ptCount val="1"/>
                <c:pt idx="0">
                  <c:v>8.8000000000000007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6.2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EEE-466C-A37F-D42AC9DDCC94}"/>
            </c:ext>
          </c:extLst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Подкаст</c:v>
                </c:pt>
              </c:strCache>
            </c:strRef>
          </c:tx>
          <c:spPr>
            <a:ln w="25400">
              <a:solidFill>
                <a:srgbClr val="F5C0A8"/>
              </a:solidFill>
            </a:ln>
          </c:spPr>
          <c:xVal>
            <c:numRef>
              <c:f>Sheet1!$A$11:$A$11</c:f>
              <c:numCache>
                <c:formatCode>General</c:formatCode>
                <c:ptCount val="1"/>
                <c:pt idx="0">
                  <c:v>3.2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EEE-466C-A37F-D42AC9DDCC94}"/>
            </c:ext>
          </c:extLst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Stories</c:v>
                </c:pt>
              </c:strCache>
            </c:strRef>
          </c:tx>
          <c:spPr>
            <a:ln w="25400">
              <a:solidFill>
                <a:srgbClr val="F9EEE7"/>
              </a:solidFill>
            </a:ln>
          </c:spPr>
          <c:xVal>
            <c:numRef>
              <c:f>Sheet1!$A$14:$A$14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EEE-466C-A37F-D42AC9DDCC94}"/>
            </c:ext>
          </c:extLst>
        </c:ser>
        <c:ser>
          <c:idx val="5"/>
          <c:order val="5"/>
          <c:tx>
            <c:strRef>
              <c:f>Sheet1!$B$16</c:f>
              <c:strCache>
                <c:ptCount val="1"/>
                <c:pt idx="0">
                  <c:v>Email</c:v>
                </c:pt>
              </c:strCache>
            </c:strRef>
          </c:tx>
          <c:spPr>
            <a:ln w="25400">
              <a:solidFill>
                <a:srgbClr val="8AAFA8"/>
              </a:solidFill>
            </a:ln>
          </c:spPr>
          <c:xVal>
            <c:numRef>
              <c:f>Sheet1!$A$17:$A$17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EEE-466C-A37F-D42AC9DDC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2A3C3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128940872"/>
        <c:crosses val="autoZero"/>
        <c:crossBetween val="midCat"/>
      </c:val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/>
        <a:lstStyle/>
        <a:p>
          <a:pPr>
            <a:defRPr sz="900" b="0">
              <a:solidFill>
                <a:srgbClr val="FFD9BE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2A558-364F-4B03-AF11-54BA3A6E623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F6E83-D8F9-46E8-A7DF-5AD292C88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75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FC7AE-7D05-81DA-9708-7FF3EC3EB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8160DD-BB6B-BAB4-0C18-0CD3992A9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D514FF-6CD1-5E48-8D4C-5B1D7CBB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C75DF3-3AA8-5ABB-B82C-40E21AF8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894FD-ECDF-0B16-9583-C361A57B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61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68D8D-5CDA-3086-C3C9-58F30185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9788F-ECC0-7A13-E8B7-38794B2A7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8FE9C4-D74D-691B-82AF-D8F160FA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F1D47C-8554-D123-9F0F-621F7FBF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1F72B6-077F-205A-F39C-104463C5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1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FD0B8-950D-B75D-5ACF-15C7462C8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241029-23FF-50B2-7618-C30B00D60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EB116F-2E07-A0B3-D54F-E9B83C77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71F9A-5014-8695-622E-DD025C7E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405480-45B5-7194-6BEC-8B076831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30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7C529-91F2-BAD0-F7D9-6C5621F9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ED4FC9-C0B0-BC00-9FC8-E78CB651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FA82F5-C32C-ABAD-4B68-1C4F89353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C07946-4E4D-2846-6794-CE979F46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3A6EA9-6203-72A1-66BA-2B0D4DA5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EC66D-7581-8898-EF61-EE3E90C9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81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1A84B-55D6-59DA-E08D-2FF8228E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72F9B1-7171-4E5F-D837-90CE54556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992FF8-DE67-C423-9B75-BA1E5A5FD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042004-8824-E2F7-A8A8-2D152473F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C7CC77-B359-DCB6-9CEF-9994DA8D0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19E406-FC50-31C2-FF52-13C0D684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E52C69-670E-37DE-4D11-7B743EC3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CD6E2D-DFD6-53A4-29C1-640E5018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87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0650B-9334-F7B5-3672-EC9593F8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75C630-76D9-9509-8DDA-B0C39BAF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0175CA-FBA7-CFF7-F3DA-CFD02E66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936D97-1D48-0354-1A80-FB716302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19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AF080B-0CF7-75A2-BCE8-1A8DAC12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B7E72F-5ADE-E46E-D463-0642462C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1025B6-6EB3-B24D-54BD-102BBF4F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8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23095-0A8B-AD73-3B9B-0BAF8987A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9C200-BDEC-2A0B-47EE-8A5EF2550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6BAC71-134F-5B91-E5DD-46EAF6A44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13E8A2-A9E2-0D5E-9300-18D86609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B0542E-B244-462C-95D1-22F168D6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6F6115-6A65-A776-0C38-649E684A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56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23766-FB0D-9358-82E2-76FE903C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CCF013-193F-3BB9-FC72-18EE33B47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7A46BA-863F-F1C7-2429-D1115BDD9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CA33E-77B0-1193-1DC3-6B7BFA64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B9941-87A1-1E75-E7FB-F44D0F54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4DF9CE-4851-05BE-4D62-8F70C731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94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E914B-D602-0217-425A-F5DA9056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54BFA4-0404-C964-6D20-D922F2603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813CD-5679-0F1D-2886-CE8119AD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FBA81-FF6F-5D98-CD1C-1B499931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BC5195-9E7D-7CAB-B997-50BF88CD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7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904268-215A-491F-C118-E999022F4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CF53B9-33A3-7CB8-5D12-23CE61E84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A941A5-8B51-45A7-CAB3-D0835EB1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DD03D0-5D74-0048-1D60-03A8A912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3954E0-BDAD-3A60-2748-A30A21D6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251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83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CC279-6DC0-9944-C6C1-718B1D99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CF0419-B7DF-AD32-CC82-0BDE6DFA1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1EC7D-CC49-38ED-4803-71976E16D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2A154-3D0A-446C-8F41-04FAA71A080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B715C-3D66-AC55-C043-C0E56EC54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E4FD7E-F15D-C95E-9A93-8EB8DA9F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6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283897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Контент-матрица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130002"/>
            <a:ext cx="2570395" cy="111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Приоритизация контента по охвату и вовлечённости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6399" y="1382633"/>
            <a:ext cx="3306434" cy="58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Матрица помогает определить стратегию для каждого типа контента: масштабировать эффективное, улучшать перспективное и отказываться от неэффективного.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96399" y="2289427"/>
            <a:ext cx="2665147" cy="585688"/>
          </a:xfrm>
          <a:prstGeom prst="roundRect">
            <a:avLst>
              <a:gd name="adj" fmla="val 2427"/>
            </a:avLst>
          </a:prstGeom>
          <a:solidFill>
            <a:srgbClr val="315251"/>
          </a:solidFill>
          <a:ln/>
        </p:spPr>
      </p:sp>
      <p:sp>
        <p:nvSpPr>
          <p:cNvPr id="7" name="Text 4"/>
          <p:cNvSpPr/>
          <p:nvPr/>
        </p:nvSpPr>
        <p:spPr>
          <a:xfrm>
            <a:off x="792837" y="2385504"/>
            <a:ext cx="1161723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⭐</a:t>
            </a: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Звёздный контент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2837" y="2558244"/>
            <a:ext cx="24756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→ Масштабировать</a:t>
            </a:r>
            <a:endParaRPr lang="en-US" sz="9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Высокий охват + высокая вовлечённость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98086" y="3050502"/>
            <a:ext cx="2665147" cy="585688"/>
          </a:xfrm>
          <a:prstGeom prst="roundRect">
            <a:avLst>
              <a:gd name="adj" fmla="val 2427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792838" y="3145256"/>
            <a:ext cx="1114695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🎯</a:t>
            </a: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Нишевые хиты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2838" y="3317996"/>
            <a:ext cx="24756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→ Продвигать</a:t>
            </a:r>
            <a:endParaRPr lang="en-US" sz="9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Низкий охват + высокая вовлечённость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8086" y="3903113"/>
            <a:ext cx="2665147" cy="585688"/>
          </a:xfrm>
          <a:prstGeom prst="roundRect">
            <a:avLst>
              <a:gd name="adj" fmla="val 2427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838" y="3997867"/>
            <a:ext cx="1114695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📢</a:t>
            </a: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Широкий охват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2838" y="4170607"/>
            <a:ext cx="24756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→ Улучшить</a:t>
            </a:r>
            <a:endParaRPr lang="en-US" sz="9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Высокий охват + низкая вовлечённость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6299" y="4755724"/>
            <a:ext cx="2665247" cy="585688"/>
          </a:xfrm>
          <a:prstGeom prst="roundRect">
            <a:avLst>
              <a:gd name="adj" fmla="val 2427"/>
            </a:avLst>
          </a:prstGeom>
          <a:solidFill>
            <a:srgbClr val="315251"/>
          </a:solidFill>
          <a:ln/>
        </p:spPr>
      </p:sp>
      <p:sp>
        <p:nvSpPr>
          <p:cNvPr id="16" name="Text 13"/>
          <p:cNvSpPr/>
          <p:nvPr/>
        </p:nvSpPr>
        <p:spPr>
          <a:xfrm>
            <a:off x="791050" y="4850478"/>
            <a:ext cx="1114695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🔄</a:t>
            </a: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Пересмотреть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1050" y="5023218"/>
            <a:ext cx="24757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→ Отказаться</a:t>
            </a:r>
            <a:endParaRPr lang="en-US" sz="9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Низкий охват + низкая вовлечённость</a:t>
            </a:r>
            <a:endParaRPr lang="en-US" sz="900" dirty="0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710336" y="194017"/>
          <a:ext cx="5525510" cy="5599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9BA809-87AE-AF62-2BC6-280433182664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Широкоэкранный</PresentationFormat>
  <Paragraphs>16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2026-06-28T15:13:12Z</dcterms:created>
  <dcterms:modified xsi:type="dcterms:W3CDTF">2026-06-28T15:13:22Z</dcterms:modified>
</cp:coreProperties>
</file>