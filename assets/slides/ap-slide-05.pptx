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ru-RU" dirty="0">
                <a:solidFill>
                  <a:srgbClr val="F3F3F2"/>
                </a:solidFill>
              </a:rPr>
              <a:t>Доля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dPt>
            <c:idx val="0"/>
            <c:bubble3D val="0"/>
            <c:spPr>
              <a:solidFill>
                <a:srgbClr val="FFBC8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AFB-43F7-8E97-3A402CED7369}"/>
              </c:ext>
            </c:extLst>
          </c:dPt>
          <c:dPt>
            <c:idx val="1"/>
            <c:bubble3D val="0"/>
            <c:spPr>
              <a:solidFill>
                <a:srgbClr val="E0784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AFB-43F7-8E97-3A402CED7369}"/>
              </c:ext>
            </c:extLst>
          </c:dPt>
          <c:dPt>
            <c:idx val="2"/>
            <c:bubble3D val="0"/>
            <c:spPr>
              <a:solidFill>
                <a:srgbClr val="C0582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DAFB-43F7-8E97-3A402CED7369}"/>
              </c:ext>
            </c:extLst>
          </c:dPt>
          <c:dPt>
            <c:idx val="3"/>
            <c:bubble3D val="0"/>
            <c:spPr>
              <a:solidFill>
                <a:srgbClr val="D0906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DAFB-43F7-8E97-3A402CED7369}"/>
              </c:ext>
            </c:extLst>
          </c:dPt>
          <c:cat>
            <c:strRef>
              <c:f>Sheet1!$A$2:$A$5</c:f>
              <c:strCache>
                <c:ptCount val="4"/>
                <c:pt idx="0">
                  <c:v>Прямые продажи</c:v>
                </c:pt>
                <c:pt idx="1">
                  <c:v>Партнёры</c:v>
                </c:pt>
                <c:pt idx="2">
                  <c:v>Онлайн-канал</c:v>
                </c:pt>
                <c:pt idx="3">
                  <c:v>Дистрибуция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28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AFB-43F7-8E97-3A402CED73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</c:spPr>
    </c:plotArea>
    <c:legend>
      <c:legendPos val="r"/>
      <c:legendEntry>
        <c:idx val="0"/>
        <c:txPr>
          <a:bodyPr/>
          <a:lstStyle/>
          <a:p>
            <a:pPr>
              <a:defRPr sz="900" b="0">
                <a:solidFill>
                  <a:srgbClr val="F3F3F2"/>
                </a:solidFill>
                <a:latin typeface="Arial"/>
              </a:defRPr>
            </a:pPr>
            <a:endParaRPr lang="ru-RU"/>
          </a:p>
        </c:txPr>
      </c:legendEntry>
      <c:legendEntry>
        <c:idx val="1"/>
        <c:txPr>
          <a:bodyPr/>
          <a:lstStyle/>
          <a:p>
            <a:pPr>
              <a:defRPr sz="900" b="0">
                <a:solidFill>
                  <a:srgbClr val="F3F3F2"/>
                </a:solidFill>
                <a:latin typeface="Arial"/>
              </a:defRPr>
            </a:pPr>
            <a:endParaRPr lang="ru-RU"/>
          </a:p>
        </c:txPr>
      </c:legendEntry>
      <c:legendEntry>
        <c:idx val="2"/>
        <c:txPr>
          <a:bodyPr/>
          <a:lstStyle/>
          <a:p>
            <a:pPr>
              <a:defRPr sz="900" b="0">
                <a:solidFill>
                  <a:srgbClr val="F3F3F2"/>
                </a:solidFill>
                <a:latin typeface="Arial"/>
              </a:defRPr>
            </a:pPr>
            <a:endParaRPr lang="ru-RU"/>
          </a:p>
        </c:txPr>
      </c:legendEntry>
      <c:legendEntry>
        <c:idx val="3"/>
        <c:txPr>
          <a:bodyPr/>
          <a:lstStyle/>
          <a:p>
            <a:pPr>
              <a:defRPr sz="900" b="0">
                <a:solidFill>
                  <a:srgbClr val="F3F3F2"/>
                </a:solidFill>
                <a:latin typeface="Arial"/>
              </a:defRPr>
            </a:pPr>
            <a:endParaRPr lang="ru-RU"/>
          </a:p>
        </c:txPr>
      </c:legendEntry>
      <c:layout>
        <c:manualLayout>
          <c:xMode val="edge"/>
          <c:yMode val="edge"/>
          <c:x val="0.75693785109480338"/>
          <c:y val="0.49039227622624471"/>
          <c:w val="0.24306214890519665"/>
          <c:h val="0.23312625619624455"/>
        </c:manualLayout>
      </c:layout>
      <c:overlay val="0"/>
      <c:spPr>
        <a:noFill/>
        <a:ln>
          <a:noFill/>
        </a:ln>
      </c:spPr>
      <c:txPr>
        <a:bodyPr/>
        <a:lstStyle/>
        <a:p>
          <a:pPr>
            <a:defRPr sz="700" b="0">
              <a:solidFill>
                <a:srgbClr val="F3F3F2"/>
              </a:solidFill>
              <a:latin typeface="Arial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F530F-DEEF-438B-94B8-C8E9662EF68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9E07E-3415-4EAA-85EC-BDE696AFBF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5219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115F3-40DA-89ED-4A2A-158649790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E80F0D-5C2C-758C-5F15-C3DE6E06C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2D689B-1285-0E6C-19E7-338CF613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369E3-A702-40E1-8DEC-F47443A3BF4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20303A-2CF5-986E-BD05-130EC361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F92F18-61E6-2E01-D252-71A77FC0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67CD-B806-42A1-88B8-1C14EAE16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973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F6A92C-4988-B9C4-1979-8E0DCBC73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944810-E1A0-7816-4F43-DB8C241CE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F6F18E-9718-22BC-970D-CC2F8BDEE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369E3-A702-40E1-8DEC-F47443A3BF4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F305DE-AEC4-6D45-8105-D403E578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23A4FB-3851-36C9-EF77-ACBE50A1A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67CD-B806-42A1-88B8-1C14EAE16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051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5B0B6-F089-606F-B4C9-AF8958DF8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DC8D8A-3793-9087-9E34-CB4DECDD9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AFC12D-D07E-012E-A3C0-8710142EA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369E3-A702-40E1-8DEC-F47443A3BF4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42AC27-F448-0A9D-CD36-C5823F260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CCFC71-3E55-3A8B-13B8-E99258265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67CD-B806-42A1-88B8-1C14EAE16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635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CDF762-8620-72DF-5CF9-F798D0FF9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07CEC7-F079-C786-2210-1BDDAF37C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045D4B-0481-E6C0-32B5-BEE02D5EF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1244A4-D7A3-02DA-E920-AA4E21A42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369E3-A702-40E1-8DEC-F47443A3BF4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7EC28C-089E-D87F-6568-BFE2FD7A5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03B0E6-ABC7-19D0-7D9F-934E988E1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67CD-B806-42A1-88B8-1C14EAE16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070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DE563-0921-95EB-D027-5AFDE006E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266F02-FFD0-B403-DF4B-FE1C2D6DC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9A5539-7505-94A3-43B8-EDD276C12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16AFF0-D0FA-E77C-1266-BAAA23802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28E950E-6A49-BC56-E19E-75ED8FADFC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DA6C84D-484B-7CD5-DCCA-203B1A23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369E3-A702-40E1-8DEC-F47443A3BF4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ABE8C78-0B0D-7DC7-01F8-691A9AEFE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76EF0E5-A455-7C03-75C0-2D821D708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67CD-B806-42A1-88B8-1C14EAE16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870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437E87-7CA6-2712-3913-FEBF101C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D88854-6BD0-FF96-6558-0478D623F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369E3-A702-40E1-8DEC-F47443A3BF4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34248B9-8D09-497A-6847-11850D933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BE00C00-5364-6310-F13F-A9D7043A1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67CD-B806-42A1-88B8-1C14EAE16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57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451818E-E07C-088D-6472-FA7EBAD1C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369E3-A702-40E1-8DEC-F47443A3BF4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4B67E59-C098-6CCE-1C19-85B0F4D1C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C1033D-3476-3D98-F470-E9B209545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67CD-B806-42A1-88B8-1C14EAE16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922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1842FC-C4B8-9734-5A3D-87466EBCD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50DD3B-8EAD-8186-BCED-F9BB7F6EA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AD0D3C-FB3E-93C3-4022-2F9B95E48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E26203-B9EC-1A50-4BD1-7398BAE8A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369E3-A702-40E1-8DEC-F47443A3BF4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B16456-14E4-ED18-EAB2-1A37A98DF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AED4B5-6439-47EA-8671-4311C7597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67CD-B806-42A1-88B8-1C14EAE16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420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874E5D-227C-5B50-0047-4A76DB787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F1AB4D4-A3F5-D5DB-0DA5-A132B6A343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2947FF5-81F2-9B17-7D4E-CB980881E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877E8F-83D4-B44A-FCBA-3C128A587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369E3-A702-40E1-8DEC-F47443A3BF4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B20A68-2260-E9B3-DA50-1A1103A92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1F6334-43A2-F4DC-7202-739481ED1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67CD-B806-42A1-88B8-1C14EAE16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523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1CE0E3-DA09-EBA1-E544-C614EAD88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5C289E3-3D6F-C061-82FC-F69D93576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665A8-F715-AEDE-96D2-D6627D493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369E3-A702-40E1-8DEC-F47443A3BF4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F14C52-DF54-F43F-FA3C-86B9DE67B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E0E556-81A1-8CDC-D075-529427714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67CD-B806-42A1-88B8-1C14EAE16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969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07B5E0E-D4DB-559F-6608-5F9C9DF3A6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EC4E06-C55C-EA5F-28B9-BD73D380A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5CE04E-8EBC-7E26-AAC3-A36C104D4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369E3-A702-40E1-8DEC-F47443A3BF4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A7B2B6-18B9-DABC-BDFB-FE7FA08B1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678C48-E3A4-310F-02B4-5E94DF2C1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67CD-B806-42A1-88B8-1C14EAE16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171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436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2ECCCD-EE95-AEDD-C51A-F081139B1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5119C5-BBFE-45A4-872F-5E7154A2A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4DE444-D6EA-C9AB-C5A8-38F140D9B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369E3-A702-40E1-8DEC-F47443A3BF48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D40478-D64C-5C24-A56B-8BB003CF2F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EEB8FA-FEFF-992C-94CB-37EE665C6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A67CD-B806-42A1-88B8-1C14EAE169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9202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1475" y="1514376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Распределение выручки за 2024 год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309659" y="2098278"/>
            <a:ext cx="301071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Ключевые наблюдения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659" y="2536230"/>
            <a:ext cx="5226911" cy="1055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74963" y="2725341"/>
            <a:ext cx="251245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Прямые продажи — 42%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574963" y="3144143"/>
            <a:ext cx="477250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Основной канал, сохраняет лидерство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659" y="3744913"/>
            <a:ext cx="5226911" cy="1055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74963" y="3934023"/>
            <a:ext cx="218563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Онлайн-канал — 20%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6574963" y="4352826"/>
            <a:ext cx="477250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Рост доли с 14% до 20% — главный тренд года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659" y="4953595"/>
            <a:ext cx="5226911" cy="1055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74963" y="5142706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Партнёры — 28%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574963" y="5561509"/>
            <a:ext cx="477250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Стабильная доля, потенциал масштабирования</a:t>
            </a:r>
            <a:endParaRPr lang="en-US" sz="1300" dirty="0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61475" y="2117427"/>
          <a:ext cx="4890239" cy="37026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E6A8E49-FBAC-690E-8181-961927D095BA}"/>
              </a:ext>
            </a:extLst>
          </p:cNvPr>
          <p:cNvSpPr txBox="1"/>
          <p:nvPr/>
        </p:nvSpPr>
        <p:spPr>
          <a:xfrm>
            <a:off x="541174" y="528344"/>
            <a:ext cx="7445829" cy="660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4000"/>
              </a:lnSpc>
            </a:pPr>
            <a:r>
              <a:rPr lang="en-US" sz="3700" dirty="0" err="1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Структура</a:t>
            </a: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3700" dirty="0" err="1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выручки</a:t>
            </a: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3700" dirty="0" err="1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по</a:t>
            </a: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3700" dirty="0" err="1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каналам</a:t>
            </a:r>
            <a:endParaRPr lang="en-US" sz="37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2442709-933F-13C7-03B7-DABA7A413959}"/>
              </a:ext>
            </a:extLst>
          </p:cNvPr>
          <p:cNvSpPr/>
          <p:nvPr/>
        </p:nvSpPr>
        <p:spPr>
          <a:xfrm>
            <a:off x="11038114" y="6503438"/>
            <a:ext cx="1153886" cy="354562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Широкоэкранный</PresentationFormat>
  <Paragraphs>11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IBM Plex Sans Medium</vt:lpstr>
      <vt:lpstr>Roboto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2026-06-28T12:20:10Z</dcterms:created>
  <dcterms:modified xsi:type="dcterms:W3CDTF">2026-06-28T12:20:22Z</dcterms:modified>
</cp:coreProperties>
</file>