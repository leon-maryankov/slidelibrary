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Валовая рентабельность, %</c:v>
                </c:pt>
              </c:strCache>
            </c:strRef>
          </c:tx>
          <c:spPr>
            <a:ln w="25400">
              <a:solidFill>
                <a:srgbClr val="8061FF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37</c:v>
                </c:pt>
                <c:pt idx="2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021-4F7A-A9BF-F2F5DB7759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Чистая рентабельность, %</c:v>
                </c:pt>
              </c:strCache>
            </c:strRef>
          </c:tx>
          <c:spPr>
            <a:ln w="25400">
              <a:solidFill>
                <a:srgbClr val="A889FF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</c:v>
                </c:pt>
                <c:pt idx="1">
                  <c:v>19.399999999999999</c:v>
                </c:pt>
                <c:pt idx="2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021-4F7A-A9BF-F2F5DB7759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D9E1FF"/>
                </a:solidFill>
                <a:latin typeface="Arial"/>
              </a:defRPr>
            </a:pPr>
            <a:endParaRPr lang="ru-RU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9525">
              <a:solidFill>
                <a:srgbClr val="1A106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D9E1FF"/>
                </a:solidFill>
                <a:latin typeface="Arial"/>
              </a:defRPr>
            </a:pPr>
            <a:endParaRPr lang="ru-RU"/>
          </a:p>
        </c:txPr>
        <c:crossAx val="2118791784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spPr>
        <a:noFill/>
        <a:ln>
          <a:noFill/>
        </a:ln>
      </c:spPr>
      <c:txPr>
        <a:bodyPr/>
        <a:lstStyle/>
        <a:p>
          <a:pPr>
            <a:defRPr sz="900" b="0">
              <a:solidFill>
                <a:srgbClr val="D9E1FF"/>
              </a:solidFill>
              <a:latin typeface="Arial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3E4ED-94DA-4BF1-9003-547B881DC11A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72F951-A949-4177-A814-557612398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762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593A5E-C40A-0401-664F-F645C77B0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247D3EA-E063-5A1D-EA49-F3F7C1589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2333BF-381E-0C9F-68D4-DD1BEE368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4FE6-731D-4BAC-A433-7A33D7543EB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1AA8F5-F1A4-6716-2D6C-9ABC183D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9065DC-B2DE-90EA-7578-74E39A0A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5F06E-5741-42F3-9A14-1729FBAF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19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1D64EC-5BC4-8B71-09A7-2A4053C08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A25613-F5D4-413D-DFB6-2C396BDBD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FF6256-A73D-8635-678F-E4784FC8D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4FE6-731D-4BAC-A433-7A33D7543EB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91DBEF-17E9-08BD-EB68-B704BB142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14F985-CE08-7244-3377-0DD12754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5F06E-5741-42F3-9A14-1729FBAF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540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C6AEB5-3862-EC59-FB06-DCB532974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47B1FA-B516-9F61-35BA-64591E90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5DC3CA-2D90-D9EF-CE74-F401D7D86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4FE6-731D-4BAC-A433-7A33D7543EB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5147E8-C0DE-94F0-0A22-C66A0CD8F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4BA54A-4798-389C-EE73-0D1191141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5F06E-5741-42F3-9A14-1729FBAF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875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81C531-75BC-AB3F-B9BF-174347F9C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E357B1-8FD5-90A4-0504-EB5DAF478A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FDA46FB-D0E4-C9F9-347C-8048DC741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D150E3-66FA-3E51-53C0-A116626B8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4FE6-731D-4BAC-A433-7A33D7543EB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096D36-2A74-C682-0C8D-46D13D3E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1B5914-93CC-BA14-78D3-E1CEBE56B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5F06E-5741-42F3-9A14-1729FBAF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114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908C36-BF78-A4B5-0315-D381A8F24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535778-FB74-CFDC-3E4E-85541E7FB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E70050-FCC1-C161-17A8-6768ED867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EADCB54-815F-AB05-C85B-10B56989E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487F4EC-18E8-C2AD-3314-0F6314D14B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E3D49B5-67C8-635F-D76E-7EBEC3F19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4FE6-731D-4BAC-A433-7A33D7543EB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23B7A3F-765E-0DAA-20B0-25C11DA4E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2DFA95D-BC7B-9933-DBC9-185DE9888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5F06E-5741-42F3-9A14-1729FBAF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9462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24090F-0A3C-0204-6E10-DD660B7D1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D75DC9-9EA4-12ED-7CC2-576109A90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4FE6-731D-4BAC-A433-7A33D7543EB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B859F7E-376E-C81E-395B-F02651BD3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D22FE2-5C42-4FCB-4CE1-556E49EE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5F06E-5741-42F3-9A14-1729FBAF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630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F66E277-5FBA-7B5D-A55D-B51829A25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4FE6-731D-4BAC-A433-7A33D7543EB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EECBB6C-8245-E341-D132-231E1F4BD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F200A7-6424-EC2D-7FA0-BFF559A91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5F06E-5741-42F3-9A14-1729FBAF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309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C32B20-1A57-9F79-8640-BAD071407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9881A0-2E95-B1D2-6369-294B6EEEB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170EAC-1F92-3A14-5A94-37E47B897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D2F797-9A92-DDEF-ABF0-0484AF6EE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4FE6-731D-4BAC-A433-7A33D7543EB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D69D77-70CC-0028-1273-29ACD1753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7B0329-1816-72E6-9127-F72BDDEB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5F06E-5741-42F3-9A14-1729FBAF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804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4D9A3-6C58-ADE8-2986-F9F77859B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CFF829F-F47D-1A60-50ED-D844DB32F6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7E3796-AC7E-9E91-604C-9B8D58736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1D02A2-68EB-94E2-4C2E-874BCCBC0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4FE6-731D-4BAC-A433-7A33D7543EB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BFAA83-A32A-E21B-7B19-620CA6A4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ED5336-9A8C-B3FE-F6E0-553BF6D39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5F06E-5741-42F3-9A14-1729FBAF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8277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AE704C-40B7-E2CE-9CAE-7621A426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5564782-F33E-92F4-3A78-3B3EA7F4F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0D8316-0411-3F40-CC56-42A1C16E4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4FE6-731D-4BAC-A433-7A33D7543EB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12369B-8D23-7A04-BCAA-BA45795D7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0F0942-F6E2-6822-4F21-3085F352F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5F06E-5741-42F3-9A14-1729FBAF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7013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2EC5599-8123-6ED7-EA57-ED8BDDEBA4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B5176A4-1533-C29A-F65E-0127A992D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280CC1-6AB1-3710-ABAA-E8F957DE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4FE6-731D-4BAC-A433-7A33D7543EB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6FA14C-DDDD-FB21-25E2-55BDE4DD8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4020B5-8A8F-4B0E-160B-3C111B14A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5F06E-5741-42F3-9A14-1729FBAF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5807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61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5111B-F994-12BE-6302-B8C9786C7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2552E0-DD60-C0B1-2554-1C41130E3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EBDE59-5E96-AC72-62CA-4A2A86059F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84FE6-731D-4BAC-A433-7A33D7543EBE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83E752-AE6B-F797-FFA8-6F76FEBF2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6C7387-BE90-D598-F385-C54457A21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5F06E-5741-42F3-9A14-1729FBAFF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802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21058"/>
            <a:ext cx="532781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Динамика рентабельности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951609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Валовая и чистая рентабельность (% от выручки), 2022–2024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98086" y="6342039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Обе метрики демонстрируют устойчивый рост. Чистая рентабельность достигла целевого уровня 20% в 2024 году — на 0,6 п.п. выше 2023 года.</a:t>
            </a:r>
            <a:endParaRPr lang="en-US" sz="1050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98086" y="1141414"/>
          <a:ext cx="9201694" cy="5082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E8395B9-0304-7D0E-5449-9B294394E4E0}"/>
              </a:ext>
            </a:extLst>
          </p:cNvPr>
          <p:cNvSpPr/>
          <p:nvPr/>
        </p:nvSpPr>
        <p:spPr>
          <a:xfrm>
            <a:off x="11066106" y="6512767"/>
            <a:ext cx="1125894" cy="345233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Широкоэкранный</PresentationFormat>
  <Paragraphs>4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Arimo</vt:lpstr>
      <vt:lpstr>Calibri</vt:lpstr>
      <vt:lpstr>Calibri Light</vt:lpstr>
      <vt:lpstr>Syne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2026-06-28T15:32:39Z</dcterms:created>
  <dcterms:modified xsi:type="dcterms:W3CDTF">2026-06-28T15:32:53Z</dcterms:modified>
</cp:coreProperties>
</file>